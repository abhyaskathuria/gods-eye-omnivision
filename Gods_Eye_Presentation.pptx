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905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DC0000"/>
                </a:solidFill>
                <a:latin typeface="Arial"/>
              </a:defRPr>
            </a:pPr>
            <a:r>
              <a:t>GOD'S EYE: OMNIVISION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E6E6E6"/>
                </a:solidFill>
                <a:latin typeface="Arial"/>
              </a:defRPr>
            </a:pPr>
            <a:r>
              <a:t>Advanced OSINT Platform &amp; AI Threat Analysis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6E6"/>
                </a:solidFill>
                <a:latin typeface="Arial"/>
              </a:defRPr>
            </a:pPr>
            <a:r>
              <a:t>Presenter: ABHYAS KATHURIA</a:t>
            </a:r>
          </a:p>
          <a:p>
            <a:pPr algn="ctr">
              <a:defRPr sz="1400">
                <a:solidFill>
                  <a:srgbClr val="8C8C8C"/>
                </a:solidFill>
                <a:latin typeface="Arial"/>
              </a:defRPr>
            </a:pPr>
            <a:r>
              <a:t>Roll No: 20241BCI0063  |  Course: BCA-AIML</a:t>
            </a:r>
          </a:p>
          <a:p>
            <a:pPr algn="ctr">
              <a:defRPr sz="1300">
                <a:solidFill>
                  <a:srgbClr val="DC0000"/>
                </a:solidFill>
                <a:latin typeface="Arial"/>
              </a:defRPr>
            </a:pPr>
            <a:r>
              <a:t>DEPARTMENT OF COMPUTER SCIENCE &amp; ENGINEERING  |  PRESIDENCY UNIVERSITY BANGALORE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Arial"/>
              </a:defRPr>
            </a:pPr>
            <a:r>
              <a:t>THE CORE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0000"/>
                </a:solidFill>
                <a:latin typeface="Arial"/>
              </a:defRPr>
            </a:pPr>
            <a:r>
              <a:t>Operational Inefficiencies in CTI &amp; OSINT:</a:t>
            </a:r>
          </a:p>
          <a:p>
            <a:pPr lvl="1">
              <a:spcBef>
                <a:spcPts val="1000"/>
              </a:spcBef>
              <a:defRPr sz="1400">
                <a:solidFill>
                  <a:srgbClr val="E6E6E6"/>
                </a:solidFill>
                <a:latin typeface="Arial"/>
              </a:defRPr>
            </a:pPr>
            <a:r>
              <a:t>Fragmented Tooling: Investigators waste time context-switching across 45+ separate command-line scripts and websites (Shodan, VirusTotal, AbuseIPDB, LeakCheck).</a:t>
            </a:r>
          </a:p>
          <a:p>
            <a:pPr lvl="1">
              <a:spcBef>
                <a:spcPts val="1000"/>
              </a:spcBef>
              <a:defRPr sz="1400">
                <a:solidFill>
                  <a:srgbClr val="E6E6E6"/>
                </a:solidFill>
                <a:latin typeface="Arial"/>
              </a:defRPr>
            </a:pPr>
            <a:r>
              <a:t>Data Correlation Silos: Information like IP reputation, WHOIS data, email leaks, and face images are processed separately, leaving correlation maps to manual spreadsheets.</a:t>
            </a:r>
          </a:p>
          <a:p>
            <a:pPr lvl="1">
              <a:spcBef>
                <a:spcPts val="1000"/>
              </a:spcBef>
              <a:defRPr sz="1400">
                <a:solidFill>
                  <a:srgbClr val="E6E6E6"/>
                </a:solidFill>
                <a:latin typeface="Arial"/>
              </a:defRPr>
            </a:pPr>
            <a:r>
              <a:t>Generative AI Integration Gap: Raw logs are complex to interpret, but traditional workflows lack a dynamic context-aware summarization layer.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0000"/>
                </a:solidFill>
                <a:latin typeface="Arial"/>
              </a:defRPr>
            </a:pPr>
            <a:r>
              <a:t>The Cost &amp; Education Barriers:</a:t>
            </a:r>
          </a:p>
          <a:p>
            <a:pPr lvl="1">
              <a:spcBef>
                <a:spcPts val="1000"/>
              </a:spcBef>
              <a:defRPr sz="1400">
                <a:solidFill>
                  <a:srgbClr val="E6E6E6"/>
                </a:solidFill>
                <a:latin typeface="Arial"/>
              </a:defRPr>
            </a:pPr>
            <a:r>
              <a:t>Prohibitive Licensing Fees: Enterprise threat analysis software (e.g., Recorded Future, Maltego Enterprise) is too expensive for academic labs, SOC centers, and students.</a:t>
            </a:r>
          </a:p>
          <a:p>
            <a:pPr lvl="1">
              <a:spcBef>
                <a:spcPts val="1000"/>
              </a:spcBef>
              <a:defRPr sz="1400">
                <a:solidFill>
                  <a:srgbClr val="E6E6E6"/>
                </a:solidFill>
                <a:latin typeface="Arial"/>
              </a:defRPr>
            </a:pPr>
            <a:r>
              <a:t>Lack of Secure Training Sandboxes: Trainees need structured workflows that enforce security ethics agreements and track queries for audit logs.</a:t>
            </a:r>
          </a:p>
          <a:p>
            <a:pPr lvl="1">
              <a:spcBef>
                <a:spcPts val="1000"/>
              </a:spcBef>
              <a:defRPr sz="1400">
                <a:solidFill>
                  <a:srgbClr val="E6E6E6"/>
                </a:solidFill>
                <a:latin typeface="Arial"/>
              </a:defRPr>
            </a:pPr>
            <a:r>
              <a:t>Synthesis Latency: Consolidating massive data pipelines into single exportable intelligence files for law enforcement takes hours instead of minutes.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Arial"/>
              </a:defRPr>
            </a:pPr>
            <a:r>
              <a:t>TARGET USERS &amp; OPERATIONAL PROFILES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560320" cy="4114800"/>
          </a:xfrm>
          <a:prstGeom prst="rect">
            <a:avLst/>
          </a:prstGeom>
          <a:solidFill>
            <a:srgbClr val="1A0404"/>
          </a:solidFill>
          <a:ln w="1905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0000"/>
                </a:solidFill>
                <a:latin typeface="Arial"/>
              </a:defRPr>
            </a:pPr>
            <a:r>
              <a:t>CTI ANALYSTS</a:t>
            </a:r>
          </a:p>
          <a:p>
            <a:br/>
            <a:pPr algn="l">
              <a:spcBef>
                <a:spcPts val="8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Discover and monitor malicious Command-and-Control (C2) servers and threat actor infrastructure.</a:t>
            </a:r>
            <a:br/>
            <a:br/>
            <a:r>
              <a:t>Use Module: Cyber Intelligence, News GDELT Tracker, and Intel Graph.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645920"/>
            <a:ext cx="2560320" cy="4114800"/>
          </a:xfrm>
          <a:prstGeom prst="rect">
            <a:avLst/>
          </a:prstGeom>
          <a:solidFill>
            <a:srgbClr val="1A0404"/>
          </a:solidFill>
          <a:ln w="1905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0000"/>
                </a:solidFill>
                <a:latin typeface="Arial"/>
              </a:defRPr>
            </a:pPr>
            <a:r>
              <a:t>SOC &amp; IR TEAMS</a:t>
            </a:r>
          </a:p>
          <a:p>
            <a:br/>
            <a:pPr algn="l">
              <a:spcBef>
                <a:spcPts val="8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Triage network intrusion alerts, verify IP reputation score triggers, and audit breached credentials.</a:t>
            </a:r>
            <a:br/>
            <a:br/>
            <a:r>
              <a:t>Use Module: Threat Score, Domain Investigator, Breach Check.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2560320" cy="4114800"/>
          </a:xfrm>
          <a:prstGeom prst="rect">
            <a:avLst/>
          </a:prstGeom>
          <a:solidFill>
            <a:srgbClr val="1A0404"/>
          </a:solidFill>
          <a:ln w="1905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0000"/>
                </a:solidFill>
                <a:latin typeface="Arial"/>
              </a:defRPr>
            </a:pPr>
            <a:r>
              <a:t>FORENSICS &amp; DFIR</a:t>
            </a:r>
          </a:p>
          <a:p>
            <a:br/>
            <a:pPr algn="l">
              <a:spcBef>
                <a:spcPts val="8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Examine suspect digital evidence, parse camera model stamps, and extract geographical capture targets.</a:t>
            </a:r>
            <a:br/>
            <a:br/>
            <a:r>
              <a:t>Use Module: Visual EXIF analysis, Identity Engine reverse image search.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0" y="1645920"/>
            <a:ext cx="2560320" cy="4114800"/>
          </a:xfrm>
          <a:prstGeom prst="rect">
            <a:avLst/>
          </a:prstGeom>
          <a:solidFill>
            <a:srgbClr val="1A0404"/>
          </a:solidFill>
          <a:ln w="1905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0000"/>
                </a:solidFill>
                <a:latin typeface="Arial"/>
              </a:defRPr>
            </a:pPr>
            <a:r>
              <a:t>OSINT RESEARCHERS</a:t>
            </a:r>
          </a:p>
          <a:p>
            <a:br/>
            <a:pPr algn="l">
              <a:spcBef>
                <a:spcPts val="8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Track global flight vectors, naval assets, search user handles across social channels, and print briefings.</a:t>
            </a:r>
            <a:br/>
            <a:br/>
            <a:r>
              <a:t>Use Module: Username Recon, Geo Tracker, PDF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Arial"/>
              </a:defRPr>
            </a:pPr>
            <a:r>
              <a:t>FULL-STACK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291840" cy="4114800"/>
          </a:xfrm>
          <a:prstGeom prst="rect">
            <a:avLst/>
          </a:prstGeom>
          <a:solidFill>
            <a:srgbClr val="1A0404"/>
          </a:solidFill>
          <a:ln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DC0000"/>
                </a:solidFill>
                <a:latin typeface="Arial"/>
              </a:defRPr>
            </a:pPr>
            <a:r>
              <a:t>FRONTEND CAPABILITIES</a:t>
            </a:r>
            <a:br/>
            <a:r>
              <a:t>(React 18 + Vite)</a:t>
            </a:r>
          </a:p>
          <a:p>
            <a:br/>
            <a:pPr algn="l">
              <a:defRPr sz="1100">
                <a:solidFill>
                  <a:srgbClr val="E6E6E6"/>
                </a:solidFill>
                <a:latin typeface="Arial"/>
              </a:defRPr>
            </a:pPr>
            <a:r>
              <a:t>* Single Page Application (SPA) compiled with Vite for ultra-low loading latencies.</a:t>
            </a:r>
          </a:p>
          <a:p>
            <a:br/>
            <a:pPr algn="l">
              <a:defRPr sz="1100">
                <a:solidFill>
                  <a:srgbClr val="E6E6E6"/>
                </a:solidFill>
                <a:latin typeface="Arial"/>
              </a:defRPr>
            </a:pPr>
            <a:r>
              <a:t>* Interactive mapping layers built on Leaflet.js and OpenStreetMap.</a:t>
            </a:r>
          </a:p>
          <a:p>
            <a:br/>
            <a:pPr algn="l">
              <a:defRPr sz="1100">
                <a:solidFill>
                  <a:srgbClr val="E6E6E6"/>
                </a:solidFill>
                <a:latin typeface="Arial"/>
              </a:defRPr>
            </a:pPr>
            <a:r>
              <a:t>* Dynamic relation modeling using HTML5 canvas and animated custom SVGs.</a:t>
            </a:r>
          </a:p>
          <a:p>
            <a:br/>
            <a:pPr algn="l">
              <a:defRPr sz="1100">
                <a:solidFill>
                  <a:srgbClr val="E6E6E6"/>
                </a:solidFill>
                <a:latin typeface="Arial"/>
              </a:defRPr>
            </a:pPr>
            <a:r>
              <a:t>* Stealth Theme Toggle: Switches UI context from Red to Analyst Blue instantly.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1645920"/>
            <a:ext cx="4023360" cy="4114800"/>
          </a:xfrm>
          <a:prstGeom prst="rect">
            <a:avLst/>
          </a:prstGeom>
          <a:solidFill>
            <a:srgbClr val="0C0C0C"/>
          </a:solidFill>
          <a:ln w="2540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DC0000"/>
                </a:solidFill>
                <a:latin typeface="Arial"/>
              </a:defRPr>
            </a:pPr>
            <a:r>
              <a:t>BACKEND DISPATCHER</a:t>
            </a:r>
            <a:br/>
            <a:r>
              <a:t>(FastAPI + Uvicorn)</a:t>
            </a:r>
          </a:p>
          <a:p>
            <a:br/>
            <a:pPr algn="l">
              <a:defRPr sz="1100">
                <a:solidFill>
                  <a:srgbClr val="E6E6E6"/>
                </a:solidFill>
                <a:latin typeface="Arial"/>
              </a:defRPr>
            </a:pPr>
            <a:r>
              <a:t>* Asynchronous ASGI backend engine handling concurrent client searches via Uvicorn.</a:t>
            </a:r>
          </a:p>
          <a:p>
            <a:br/>
            <a:pPr algn="l">
              <a:defRPr sz="1100">
                <a:solidFill>
                  <a:srgbClr val="E6E6E6"/>
                </a:solidFill>
                <a:latin typeface="Arial"/>
              </a:defRPr>
            </a:pPr>
            <a:r>
              <a:t>* JWT Session Protection: 8-hour token expiry with embedded user access role checks.</a:t>
            </a:r>
          </a:p>
          <a:p>
            <a:br/>
            <a:pPr algn="l">
              <a:defRPr sz="1100">
                <a:solidFill>
                  <a:srgbClr val="E6E6E6"/>
                </a:solidFill>
                <a:latin typeface="Arial"/>
              </a:defRPr>
            </a:pPr>
            <a:r>
              <a:t>* Forensic Image Processing: Python Pillow parser extracting hidden metadata frames.</a:t>
            </a:r>
          </a:p>
          <a:p>
            <a:br/>
            <a:pPr algn="l">
              <a:defRPr sz="1100">
                <a:solidFill>
                  <a:srgbClr val="E6E6E6"/>
                </a:solidFill>
                <a:latin typeface="Arial"/>
              </a:defRPr>
            </a:pPr>
            <a:r>
              <a:t>* Activity Audit Log: Writes user query metrics to logs to ensure tracking accountability.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321040" y="1645920"/>
            <a:ext cx="3291840" cy="4114800"/>
          </a:xfrm>
          <a:prstGeom prst="rect">
            <a:avLst/>
          </a:prstGeom>
          <a:solidFill>
            <a:srgbClr val="1A0404"/>
          </a:solidFill>
          <a:ln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DC0000"/>
                </a:solidFill>
                <a:latin typeface="Arial"/>
              </a:defRPr>
            </a:pPr>
            <a:r>
              <a:t>API AGGREGATION</a:t>
            </a:r>
            <a:br/>
            <a:r>
              <a:t>(45+ External Feeds)</a:t>
            </a:r>
          </a:p>
          <a:p>
            <a:br/>
            <a:pPr algn="l">
              <a:defRPr sz="1100">
                <a:solidFill>
                  <a:srgbClr val="E6E6E6"/>
                </a:solidFill>
                <a:latin typeface="Arial"/>
              </a:defRPr>
            </a:pPr>
            <a:r>
              <a:t>* Groq AI Engine: Runs LLaMA 3.3 70B inference to generate intelligence summaries.</a:t>
            </a:r>
          </a:p>
          <a:p>
            <a:br/>
            <a:pPr algn="l">
              <a:defRPr sz="1100">
                <a:solidFill>
                  <a:srgbClr val="E6E6E6"/>
                </a:solidFill>
                <a:latin typeface="Arial"/>
              </a:defRPr>
            </a:pPr>
            <a:r>
              <a:t>* Cyber Threat Feeds: VirusTotal malware scans, Shodan networks, AbuseIPDB alerts.</a:t>
            </a:r>
          </a:p>
          <a:p>
            <a:br/>
            <a:pPr algn="l">
              <a:defRPr sz="1100">
                <a:solidFill>
                  <a:srgbClr val="E6E6E6"/>
                </a:solidFill>
                <a:latin typeface="Arial"/>
              </a:defRPr>
            </a:pPr>
            <a:r>
              <a:t>* Identity &amp; Breaches: Luxand, Face++, LeakCheck credentials repositories.</a:t>
            </a:r>
          </a:p>
          <a:p>
            <a:br/>
            <a:pPr algn="l">
              <a:defRPr sz="1100">
                <a:solidFill>
                  <a:srgbClr val="E6E6E6"/>
                </a:solidFill>
                <a:latin typeface="Arial"/>
              </a:defRPr>
            </a:pPr>
            <a:r>
              <a:t>* Geo tracking: OpenSky flight feeds, AIS vessel overlays, Sentinel imagery maps.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Arial"/>
              </a:defRPr>
            </a:pPr>
            <a:r>
              <a:t>ASYNC-PARALLEL PROCESSING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0000"/>
                </a:solidFill>
                <a:latin typeface="Arial"/>
              </a:defRPr>
            </a:pPr>
            <a:r>
              <a:t>Overcoming API Latencies via Concurrency</a:t>
            </a:r>
          </a:p>
          <a:p>
            <a:pPr lvl="1">
              <a:spcBef>
                <a:spcPts val="1200"/>
              </a:spcBef>
              <a:defRPr sz="1400">
                <a:solidFill>
                  <a:srgbClr val="E6E6E6"/>
                </a:solidFill>
                <a:latin typeface="Arial"/>
              </a:defRPr>
            </a:pPr>
            <a:r>
              <a:t>Sequential Bottleneck: Standard tools query APIs one after another. If 4 services take 5s each, a query hangs for 20 seconds.</a:t>
            </a:r>
          </a:p>
          <a:p>
            <a:pPr lvl="1">
              <a:spcBef>
                <a:spcPts val="1200"/>
              </a:spcBef>
              <a:defRPr sz="1400">
                <a:solidFill>
                  <a:srgbClr val="E6E6E6"/>
                </a:solidFill>
                <a:latin typeface="Arial"/>
              </a:defRPr>
            </a:pPr>
            <a:r>
              <a:t>Async Dispatcher: God's Eye uses Python's 'asyncio.gather()' to dispatch all API requests in parallel. The client receives consolidated data in under 5 seconds.</a:t>
            </a:r>
          </a:p>
          <a:p>
            <a:pPr lvl="1">
              <a:spcBef>
                <a:spcPts val="1200"/>
              </a:spcBef>
              <a:defRPr sz="1400">
                <a:solidFill>
                  <a:srgbClr val="E6E6E6"/>
                </a:solidFill>
                <a:latin typeface="Arial"/>
              </a:defRPr>
            </a:pPr>
            <a:r>
              <a:t>Rate-Limiting Protection: Handles API response timeouts gracefully using custom headers, preserving free-tier quotas during high-use demos.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486400" cy="4114800"/>
          </a:xfrm>
          <a:prstGeom prst="roundRect">
            <a:avLst/>
          </a:prstGeom>
          <a:solidFill>
            <a:srgbClr val="1A0404"/>
          </a:solidFill>
          <a:ln w="1905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0000"/>
                </a:solidFill>
                <a:latin typeface="Arial"/>
              </a:defRPr>
            </a:pPr>
            <a:r>
              <a:t>GRACEFUL DEGRADATION ARCHITECTURE</a:t>
            </a:r>
          </a:p>
          <a:p>
            <a:br/>
            <a:pPr algn="l">
              <a:spcBef>
                <a:spcPts val="10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To prevent a single API outage from crashing an active search, the backend wraps each endpoint query in insulated try-except blocks:</a:t>
            </a:r>
            <a:br/>
            <a:br/>
            <a:r>
              <a:t>1. Isolated API Failure: If VirusTotal is offline, the remaining 3 services (AbuseIPDB, WHOIS, DNS) still output cleanly.</a:t>
            </a:r>
            <a:br/>
            <a:br/>
            <a:r>
              <a:t>2. Quota Check Alerts: The API Health tab monitors offline keys and quota alerts, prompting analysts with warning notes instead of raw backend errors.</a:t>
            </a:r>
            <a:br/>
            <a:br/>
            <a:r>
              <a:t>3. Session Isolation: Search data remains isolated inside the backend venv parameters, never leaking keys to client-side storage.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Arial"/>
              </a:defRPr>
            </a:pPr>
            <a:r>
              <a:t>BIOMETRIC &amp; KEYWORD PROFILING (IDENTITY ENGINE)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00" cy="4114800"/>
          </a:xfrm>
          <a:prstGeom prst="rect">
            <a:avLst/>
          </a:prstGeom>
          <a:solidFill>
            <a:srgbClr val="1A0404"/>
          </a:solidFill>
          <a:ln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DC0000"/>
                </a:solidFill>
                <a:latin typeface="Arial"/>
              </a:defRPr>
            </a:pPr>
            <a:r>
              <a:t>BIOMETRIC PORTRAIT SCANNING</a:t>
            </a:r>
          </a:p>
          <a:p>
            <a:br/>
            <a:pPr algn="l">
              <a:defRPr sz="1200">
                <a:solidFill>
                  <a:srgbClr val="E6E6E6"/>
                </a:solidFill>
                <a:latin typeface="Arial"/>
              </a:defRPr>
            </a:pPr>
            <a:r>
              <a:t>* Luxand AI Integration: Extracts approximate age, gender, active emotions, smile rates, and glasses markings.</a:t>
            </a:r>
          </a:p>
          <a:p>
            <a:br/>
            <a:pPr algn="l">
              <a:defRPr sz="1200">
                <a:solidFill>
                  <a:srgbClr val="E6E6E6"/>
                </a:solidFill>
                <a:latin typeface="Arial"/>
              </a:defRPr>
            </a:pPr>
            <a:r>
              <a:t>* Face++ Processing: Deep facial parameter extraction, including complex emotion vectors and cosmetic beauty ratings.</a:t>
            </a:r>
          </a:p>
          <a:p>
            <a:br/>
            <a:pPr algn="l">
              <a:defRPr sz="1200">
                <a:solidFill>
                  <a:srgbClr val="E6E6E6"/>
                </a:solidFill>
                <a:latin typeface="Arial"/>
              </a:defRPr>
            </a:pPr>
            <a:r>
              <a:t>* SauceNAO Reverse Indexing: Compares face layouts against database models to identify direct platform matches.</a:t>
            </a:r>
          </a:p>
          <a:p>
            <a:br/>
            <a:pPr algn="l">
              <a:defRPr sz="1200">
                <a:solidFill>
                  <a:srgbClr val="E6E6E6"/>
                </a:solidFill>
                <a:latin typeface="Arial"/>
              </a:defRPr>
            </a:pPr>
            <a:r>
              <a:t>* Parallel Search Links: Auto-generates links to query Google Lens, Yandex Visual Search, and Bing images in one click.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486400" cy="4114800"/>
          </a:xfrm>
          <a:prstGeom prst="rect">
            <a:avLst/>
          </a:prstGeom>
          <a:solidFill>
            <a:srgbClr val="1A0404"/>
          </a:solidFill>
          <a:ln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DC0000"/>
                </a:solidFill>
                <a:latin typeface="Arial"/>
              </a:defRPr>
            </a:pPr>
            <a:r>
              <a:t>DIGITAL FOOTPRINT HARVESTING</a:t>
            </a:r>
          </a:p>
          <a:p>
            <a:br/>
            <a:pPr algn="l">
              <a:defRPr sz="1200">
                <a:solidFill>
                  <a:srgbClr val="E6E6E6"/>
                </a:solidFill>
                <a:latin typeface="Arial"/>
              </a:defRPr>
            </a:pPr>
            <a:r>
              <a:t>* News API Footprint: Crawls articles and media archives across 1,000+ publishers to find target mentions.</a:t>
            </a:r>
          </a:p>
          <a:p>
            <a:br/>
            <a:pPr algn="l">
              <a:defRPr sz="1200">
                <a:solidFill>
                  <a:srgbClr val="E6E6E6"/>
                </a:solidFill>
                <a:latin typeface="Arial"/>
              </a:defRPr>
            </a:pPr>
            <a:r>
              <a:t>* Reddit Public Crawling: Pulls recent posts and mentions of target keywords from Reddit public JSON feeds.</a:t>
            </a:r>
          </a:p>
          <a:p>
            <a:br/>
            <a:pPr algn="l">
              <a:defRPr sz="1200">
                <a:solidFill>
                  <a:srgbClr val="E6E6E6"/>
                </a:solidFill>
                <a:latin typeface="Arial"/>
              </a:defRPr>
            </a:pPr>
            <a:r>
              <a:t>* Multi-Source AI Fusion: Aggregates text sources and sends them to LLaMA 3.3 70B to compile a summarized target brief.</a:t>
            </a:r>
          </a:p>
          <a:p>
            <a:br/>
            <a:pPr algn="l">
              <a:defRPr sz="1200">
                <a:solidFill>
                  <a:srgbClr val="E6E6E6"/>
                </a:solidFill>
                <a:latin typeface="Arial"/>
              </a:defRPr>
            </a:pPr>
            <a:r>
              <a:t>* Visual Metadata Correlation: Integrates with image EXIF processing to check if profile photos contain location tracks.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Arial"/>
              </a:defRPr>
            </a:pPr>
            <a:r>
              <a:t>CYBER THREAT INTEL &amp; IOT SCANNER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560320" cy="4114800"/>
          </a:xfrm>
          <a:prstGeom prst="rect">
            <a:avLst/>
          </a:prstGeom>
          <a:solidFill>
            <a:srgbClr val="1A0404"/>
          </a:solidFill>
          <a:ln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0000"/>
                </a:solidFill>
                <a:latin typeface="Arial"/>
              </a:defRPr>
            </a:pPr>
            <a:r>
              <a:t>IP TRACKER</a:t>
            </a:r>
          </a:p>
          <a:p>
            <a:br/>
            <a:pPr algn="l">
              <a:spcBef>
                <a:spcPts val="800"/>
              </a:spcBef>
              <a:defRPr sz="1100">
                <a:solidFill>
                  <a:srgbClr val="E6E6E6"/>
                </a:solidFill>
                <a:latin typeface="Arial"/>
              </a:defRPr>
            </a:pPr>
            <a:r>
              <a:t>Resolves target IP address parameters:</a:t>
            </a:r>
            <a:br/>
            <a:br/>
            <a:r>
              <a:t>* Geolocation coordinates &amp; ISP identification.</a:t>
            </a:r>
            <a:br/>
            <a:r>
              <a:t>* AbuseIPDB confidence percentage.</a:t>
            </a:r>
            <a:br/>
            <a:r>
              <a:t>* VirusTotal malicious threat detection count.</a:t>
            </a:r>
            <a:br/>
            <a:r>
              <a:t>* Dynamic CTI rating notes.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645920"/>
            <a:ext cx="2560320" cy="4114800"/>
          </a:xfrm>
          <a:prstGeom prst="rect">
            <a:avLst/>
          </a:prstGeom>
          <a:solidFill>
            <a:srgbClr val="1A0404"/>
          </a:solidFill>
          <a:ln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0000"/>
                </a:solidFill>
                <a:latin typeface="Arial"/>
              </a:defRPr>
            </a:pPr>
            <a:r>
              <a:t>DOMAIN INTEL</a:t>
            </a:r>
          </a:p>
          <a:p>
            <a:br/>
            <a:pPr algn="l">
              <a:spcBef>
                <a:spcPts val="800"/>
              </a:spcBef>
              <a:defRPr sz="1100">
                <a:solidFill>
                  <a:srgbClr val="E6E6E6"/>
                </a:solidFill>
                <a:latin typeface="Arial"/>
              </a:defRPr>
            </a:pPr>
            <a:r>
              <a:t>Audits active websites:</a:t>
            </a:r>
            <a:br/>
            <a:br/>
            <a:r>
              <a:t>* WHOIS creation and expiration dates.</a:t>
            </a:r>
            <a:br/>
            <a:r>
              <a:t>* DNS A/AAAA and DNSSEC validation records.</a:t>
            </a:r>
            <a:br/>
            <a:r>
              <a:t>* Live landing page captures via URLScan.io.</a:t>
            </a:r>
            <a:br/>
            <a:r>
              <a:t>* Malicious redirect detection.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2560320" cy="4114800"/>
          </a:xfrm>
          <a:prstGeom prst="rect">
            <a:avLst/>
          </a:prstGeom>
          <a:solidFill>
            <a:srgbClr val="1A0404"/>
          </a:solidFill>
          <a:ln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0000"/>
                </a:solidFill>
                <a:latin typeface="Arial"/>
              </a:defRPr>
            </a:pPr>
            <a:r>
              <a:t>SHODAN EXPLORER</a:t>
            </a:r>
          </a:p>
          <a:p>
            <a:br/>
            <a:pPr algn="l">
              <a:spcBef>
                <a:spcPts val="800"/>
              </a:spcBef>
              <a:defRPr sz="1100">
                <a:solidFill>
                  <a:srgbClr val="E6E6E6"/>
                </a:solidFill>
                <a:latin typeface="Arial"/>
              </a:defRPr>
            </a:pPr>
            <a:r>
              <a:t>Queries IoT exposures:</a:t>
            </a:r>
            <a:br/>
            <a:br/>
            <a:r>
              <a:t>* Searches exposed port layouts (e.g., port:22 product:OpenSSH).</a:t>
            </a:r>
            <a:br/>
            <a:r>
              <a:t>* Audits database configurations lacking auth (MongoDB).</a:t>
            </a:r>
            <a:br/>
            <a:r>
              <a:t>* Locates unsecured online webcams.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0" y="1645920"/>
            <a:ext cx="2560320" cy="4114800"/>
          </a:xfrm>
          <a:prstGeom prst="rect">
            <a:avLst/>
          </a:prstGeom>
          <a:solidFill>
            <a:srgbClr val="1A0404"/>
          </a:solidFill>
          <a:ln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0000"/>
                </a:solidFill>
                <a:latin typeface="Arial"/>
              </a:defRPr>
            </a:pPr>
            <a:r>
              <a:t>BREACH CHECK</a:t>
            </a:r>
          </a:p>
          <a:p>
            <a:br/>
            <a:pPr algn="l">
              <a:spcBef>
                <a:spcPts val="800"/>
              </a:spcBef>
              <a:defRPr sz="1100">
                <a:solidFill>
                  <a:srgbClr val="E6E6E6"/>
                </a:solidFill>
                <a:latin typeface="Arial"/>
              </a:defRPr>
            </a:pPr>
            <a:r>
              <a:t>Checks compromised credentials:</a:t>
            </a:r>
            <a:br/>
            <a:br/>
            <a:r>
              <a:t>* Queries LeakCheck.io in parallel.</a:t>
            </a:r>
            <a:br/>
            <a:r>
              <a:t>* Searches multiple historical data breaches.</a:t>
            </a:r>
            <a:br/>
            <a:r>
              <a:t>* Lists compromised passwords and exposure timestamps.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Arial"/>
              </a:defRPr>
            </a:pPr>
            <a:r>
              <a:t>LIVE GEOSPATIAL TRACKING &amp; SATELLITE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0000"/>
                </a:solidFill>
                <a:latin typeface="Arial"/>
              </a:defRPr>
            </a:pPr>
            <a:r>
              <a:t>Interactive Asset Mapping &amp; Satellite Passes</a:t>
            </a:r>
          </a:p>
          <a:p>
            <a:pPr>
              <a:spcBef>
                <a:spcPts val="8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* Live Flight Tracker: Connects to the OpenSky Network via OAuth2 to pull and map 10,000+ real-time aircraft locations globally. Renders flights on an interactive Leaflet map.</a:t>
            </a:r>
          </a:p>
          <a:p>
            <a:pPr>
              <a:spcBef>
                <a:spcPts val="8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* Dynamic Flight Details: Click on plane icons to trace callsigns, ICAO registrations, altitude, velocity, and vector headings.</a:t>
            </a:r>
          </a:p>
          <a:p>
            <a:pPr>
              <a:spcBef>
                <a:spcPts val="8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* Marine Vessel Tracking: Integrates coastal ship WebSocket overlays for maritime surveillance.</a:t>
            </a:r>
          </a:p>
          <a:p>
            <a:pPr>
              <a:spcBef>
                <a:spcPts val="8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* Satellite Image Hub: Generates coordinates to pull passes from NASA Worldview and Sentinel Hub.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486400" cy="4114800"/>
          </a:xfrm>
          <a:prstGeom prst="roundRect">
            <a:avLst/>
          </a:prstGeom>
          <a:solidFill>
            <a:srgbClr val="1A0404"/>
          </a:solidFill>
          <a:ln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0000"/>
                </a:solidFill>
                <a:latin typeface="Arial"/>
              </a:defRPr>
            </a:pPr>
            <a:r>
              <a:t>GEOGRAPHIC DATA FUSION</a:t>
            </a:r>
          </a:p>
          <a:p>
            <a:br/>
            <a:pPr algn="l">
              <a:spcBef>
                <a:spcPts val="10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1. Nominatim Geocoder:</a:t>
            </a:r>
            <a:br/>
            <a:r>
              <a:t>Resolves decimal coordinates (e.g. from target photo EXIF) to exact addresses.</a:t>
            </a:r>
            <a:br/>
            <a:br/>
            <a:r>
              <a:t>2. OpenWeatherMap Link:</a:t>
            </a:r>
            <a:br/>
            <a:r>
              <a:t>Fetches real-time weather logs (temperature, humidity, wind conditions) for the target location to confirm operational visibility.</a:t>
            </a:r>
            <a:br/>
            <a:br/>
            <a:r>
              <a:t>3. OSINT Playbook Integration:</a:t>
            </a:r>
            <a:br/>
            <a:r>
              <a:t>Integrates geographical queries with standard investigation SOP checklists to support physical target tracking.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Arial"/>
              </a:defRPr>
            </a:pPr>
            <a:r>
              <a:t>MULTI-SIGNAL THREAT SCORING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7295" cy="1097280"/>
          </a:xfrm>
          <a:prstGeom prst="rect">
            <a:avLst/>
          </a:prstGeom>
          <a:solidFill>
            <a:srgbClr val="1A0404"/>
          </a:solidFill>
          <a:ln w="1905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DC0000"/>
                </a:solidFill>
                <a:latin typeface="Arial"/>
              </a:defRPr>
            </a:pPr>
            <a:r>
              <a:t>THE THREAT SCORE EQUATION</a:t>
            </a:r>
          </a:p>
          <a:p>
            <a:pPr algn="ctr">
              <a:spcBef>
                <a:spcPts val="400"/>
              </a:spcBef>
              <a:defRPr b="1" sz="1300">
                <a:solidFill>
                  <a:srgbClr val="E6E6E6"/>
                </a:solidFill>
                <a:latin typeface="Consolas"/>
              </a:defRPr>
            </a:pPr>
            <a:r>
              <a:t>Score (0-100) = VirusTotal Detections [30] + AbuseIPDB Reputation [25] + Domain Registration Age [15] + Compromised Breaches [15] + GPS Metadata Presence [10] + Negative News Sentiment [5]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DC0000"/>
                </a:solidFill>
                <a:latin typeface="Arial"/>
              </a:defRPr>
            </a:pPr>
            <a:r>
              <a:t>Mathematical Parameter Weighting Rationale</a:t>
            </a:r>
          </a:p>
          <a:p>
            <a:pPr lvl="1">
              <a:spcBef>
                <a:spcPts val="8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VirusTotal Consensus (30pts): High weighting because 70+ antivirus engines represent the most reliable signal for malicious file signatures and domains.</a:t>
            </a:r>
          </a:p>
          <a:p>
            <a:pPr lvl="1">
              <a:spcBef>
                <a:spcPts val="8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AbuseIPDB Score (25pts): Reflects observed dynamic abuse activity (port scans, brute force, spamming).</a:t>
            </a:r>
          </a:p>
          <a:p>
            <a:pPr lvl="1">
              <a:spcBef>
                <a:spcPts val="8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Domain Age (15pts): Newly registered domains are heavily penalized, which aligns with standard phishing and C2 campaign markers.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743200"/>
            <a:ext cx="5486400" cy="3474720"/>
          </a:xfrm>
          <a:prstGeom prst="rect">
            <a:avLst/>
          </a:prstGeom>
          <a:solidFill>
            <a:srgbClr val="1A0404"/>
          </a:solidFill>
          <a:ln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DC0000"/>
                </a:solidFill>
                <a:latin typeface="Arial"/>
              </a:defRPr>
            </a:pPr>
            <a:r>
              <a:t>RISK CLASSIFICATIONS &amp; RESPONSES</a:t>
            </a:r>
          </a:p>
          <a:p>
            <a:br/>
            <a:pPr algn="l">
              <a:defRPr sz="1200">
                <a:solidFill>
                  <a:srgbClr val="E6E6E6"/>
                </a:solidFill>
                <a:latin typeface="Arial"/>
              </a:defRPr>
            </a:pPr>
            <a:r>
              <a:t>* CRITICAL (75-100): Confirmed malicious infrastructure. Block instantly.</a:t>
            </a:r>
          </a:p>
          <a:p>
            <a:br/>
            <a:pPr algn="l">
              <a:defRPr sz="1200">
                <a:solidFill>
                  <a:srgbClr val="E6E6E6"/>
                </a:solidFill>
                <a:latin typeface="Arial"/>
              </a:defRPr>
            </a:pPr>
            <a:r>
              <a:t>* HIGH (50-74): Suspicious activity detected. Escalate for deep review.</a:t>
            </a:r>
          </a:p>
          <a:p>
            <a:br/>
            <a:pPr algn="l">
              <a:defRPr sz="1200">
                <a:solidFill>
                  <a:srgbClr val="E6E6E6"/>
                </a:solidFill>
                <a:latin typeface="Arial"/>
              </a:defRPr>
            </a:pPr>
            <a:r>
              <a:t>* MEDIUM (25-49): Moderate warning signs. Flag for close tracking.</a:t>
            </a:r>
          </a:p>
          <a:p>
            <a:br/>
            <a:pPr algn="l">
              <a:defRPr sz="1200">
                <a:solidFill>
                  <a:srgbClr val="E6E6E6"/>
                </a:solidFill>
                <a:latin typeface="Arial"/>
              </a:defRPr>
            </a:pPr>
            <a:r>
              <a:t>* LOW (0-24): Clean baseline. Standard activity allowed.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Arial"/>
              </a:defRPr>
            </a:pPr>
            <a:r>
              <a:t>INTELLIGENCE GRAPH &amp; PLAYBOOKS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00" cy="4114800"/>
          </a:xfrm>
          <a:prstGeom prst="rect">
            <a:avLst/>
          </a:prstGeom>
          <a:solidFill>
            <a:srgbClr val="1A0404"/>
          </a:solidFill>
          <a:ln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DC0000"/>
                </a:solidFill>
                <a:latin typeface="Arial"/>
              </a:defRPr>
            </a:pPr>
            <a:r>
              <a:t>INTERACTIVE LINK ANALYSIS</a:t>
            </a:r>
          </a:p>
          <a:p>
            <a:br/>
            <a:pPr algn="l">
              <a:defRPr sz="1300">
                <a:solidFill>
                  <a:srgbClr val="E6E6E6"/>
                </a:solidFill>
                <a:latin typeface="Arial"/>
              </a:defRPr>
            </a:pPr>
            <a:r>
              <a:t>* Maltego-Style Mapping: Renders entity relationships dynamically (IPs, Domains, Emails, Names) using a custom SVG node graph.</a:t>
            </a:r>
          </a:p>
          <a:p>
            <a:br/>
            <a:pPr algn="l">
              <a:defRPr sz="1300">
                <a:solidFill>
                  <a:srgbClr val="E6E6E6"/>
                </a:solidFill>
                <a:latin typeface="Arial"/>
              </a:defRPr>
            </a:pPr>
            <a:r>
              <a:t>* Visual Interaction: Supports dynamic zooming, panning, and click-based node inspection for CTI investigations.</a:t>
            </a:r>
          </a:p>
          <a:p>
            <a:br/>
            <a:pPr algn="l">
              <a:defRPr sz="1300">
                <a:solidFill>
                  <a:srgbClr val="E6E6E6"/>
                </a:solidFill>
                <a:latin typeface="Arial"/>
              </a:defRPr>
            </a:pPr>
            <a:r>
              <a:t>* Zero Extra Overhead: Renders relationship lines and pulsing alerts directly on the frontend, eliminating expensive database requirements.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486400" cy="4114800"/>
          </a:xfrm>
          <a:prstGeom prst="rect">
            <a:avLst/>
          </a:prstGeom>
          <a:solidFill>
            <a:srgbClr val="1A0404"/>
          </a:solidFill>
          <a:ln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DC0000"/>
                </a:solidFill>
                <a:latin typeface="Arial"/>
              </a:defRPr>
            </a:pPr>
            <a:r>
              <a:t>OPERATIONAL OSINT PLAYBOOKS</a:t>
            </a:r>
          </a:p>
          <a:p>
            <a:br/>
            <a:pPr algn="l">
              <a:defRPr sz="1300">
                <a:solidFill>
                  <a:srgbClr val="E6E6E6"/>
                </a:solidFill>
                <a:latin typeface="Arial"/>
              </a:defRPr>
            </a:pPr>
            <a:r>
              <a:t>* 6 Pre-Built Templates: Structured SOP checklists including Person Investigation, IP Threat Analysis, and Cyber Threat Hunt.</a:t>
            </a:r>
          </a:p>
          <a:p>
            <a:br/>
            <a:pPr algn="l">
              <a:defRPr sz="1300">
                <a:solidFill>
                  <a:srgbClr val="E6E6E6"/>
                </a:solidFill>
                <a:latin typeface="Arial"/>
              </a:defRPr>
            </a:pPr>
            <a:r>
              <a:t>* Animated Workflows: Guides junior analysts step-by-step through standard threat hunting sequences.</a:t>
            </a:r>
          </a:p>
          <a:p>
            <a:br/>
            <a:pPr algn="l">
              <a:defRPr sz="1300">
                <a:solidFill>
                  <a:srgbClr val="E6E6E6"/>
                </a:solidFill>
                <a:latin typeface="Arial"/>
              </a:defRPr>
            </a:pPr>
            <a:r>
              <a:t>* Hotlink Routing: Click on a playbook step to jump directly to the required module, auto-filling target inputs.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Arial"/>
              </a:defRPr>
            </a:pPr>
            <a:r>
              <a:t>UNIQUE VALUE PROPOSITION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560320" cy="4114800"/>
          </a:xfrm>
          <a:prstGeom prst="rect">
            <a:avLst/>
          </a:prstGeom>
          <a:solidFill>
            <a:srgbClr val="0C0C0C"/>
          </a:solidFill>
          <a:ln w="2540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0000"/>
                </a:solidFill>
                <a:latin typeface="Arial"/>
              </a:defRPr>
            </a:pPr>
            <a:r>
              <a:t>NO LICENSE COSTS</a:t>
            </a:r>
          </a:p>
          <a:p>
            <a:br/>
            <a:pPr algn="l">
              <a:spcBef>
                <a:spcPts val="8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Aggregates 45+ free-tier API keys, making professional CTI and threat-scoring models accessible for educational budgets.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645920"/>
            <a:ext cx="2560320" cy="4114800"/>
          </a:xfrm>
          <a:prstGeom prst="rect">
            <a:avLst/>
          </a:prstGeom>
          <a:solidFill>
            <a:srgbClr val="0C0C0C"/>
          </a:solidFill>
          <a:ln w="2540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0000"/>
                </a:solidFill>
                <a:latin typeface="Arial"/>
              </a:defRPr>
            </a:pPr>
            <a:r>
              <a:t>AI INTEL SUMMARY</a:t>
            </a:r>
          </a:p>
          <a:p>
            <a:br/>
            <a:pPr algn="l">
              <a:spcBef>
                <a:spcPts val="8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Integrated LLaMA 3.3 70B synthesizes complex API outputs into structured briefings, bypassing manual copy-paste workflows.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2560320" cy="4114800"/>
          </a:xfrm>
          <a:prstGeom prst="rect">
            <a:avLst/>
          </a:prstGeom>
          <a:solidFill>
            <a:srgbClr val="0C0C0C"/>
          </a:solidFill>
          <a:ln w="2540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0000"/>
                </a:solidFill>
                <a:latin typeface="Arial"/>
              </a:defRPr>
            </a:pPr>
            <a:r>
              <a:t>SECURE AUDIT TRAILS</a:t>
            </a:r>
          </a:p>
          <a:p>
            <a:br/>
            <a:pPr algn="l">
              <a:spcBef>
                <a:spcPts val="8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Enforces user responsibility via mandatory Ethics Agreements. Logs all searches to protect privacy and prevent audit abuse.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0" y="1645920"/>
            <a:ext cx="2560320" cy="4114800"/>
          </a:xfrm>
          <a:prstGeom prst="rect">
            <a:avLst/>
          </a:prstGeom>
          <a:solidFill>
            <a:srgbClr val="0C0C0C"/>
          </a:solidFill>
          <a:ln w="2540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0000"/>
                </a:solidFill>
                <a:latin typeface="Arial"/>
              </a:defRPr>
            </a:pPr>
            <a:r>
              <a:t>TACTICAL INTERFACE</a:t>
            </a:r>
          </a:p>
          <a:p>
            <a:br/>
            <a:pPr algn="l">
              <a:spcBef>
                <a:spcPts val="800"/>
              </a:spcBef>
              <a:defRPr sz="1200">
                <a:solidFill>
                  <a:srgbClr val="E6E6E6"/>
                </a:solidFill>
                <a:latin typeface="Arial"/>
              </a:defRPr>
            </a:pPr>
            <a:r>
              <a:t>Features a responsive dual-theme system (God's Eye Red vs. Analyst Blue) optimized for dark-room SOC shifts.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Arial"/>
              </a:defRPr>
            </a:pPr>
            <a:r>
              <a:t>FUTURE ROADMAP &amp; PROJECT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0000"/>
                </a:solidFill>
                <a:latin typeface="Arial"/>
              </a:defRPr>
            </a:pPr>
            <a:r>
              <a:t>Development Roadmap (v2.0)</a:t>
            </a:r>
          </a:p>
          <a:p>
            <a:pPr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* Docker Containerization: Support cross-platform deployments (Mac, Linux) via docker-compose.</a:t>
            </a:r>
          </a:p>
          <a:p>
            <a:pPr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* Deepfake GAN Detection: Integrate deep learning models to identify AI-generated synthetic media in visual scans.</a:t>
            </a:r>
          </a:p>
          <a:p>
            <a:pPr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* Crypto Wallet Analytics: Trace transaction histories and risk indicators for BTC/ETH addresses.</a:t>
            </a:r>
          </a:p>
          <a:p>
            <a:pPr>
              <a:spcBef>
                <a:spcPts val="8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* Mobile-Responsive Layout: Optimize Tailwind parameters for field mobile devices.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486400" cy="4114800"/>
          </a:xfrm>
          <a:prstGeom prst="roundRect">
            <a:avLst/>
          </a:prstGeom>
          <a:solidFill>
            <a:srgbClr val="1A0404"/>
          </a:solidFill>
          <a:ln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0000"/>
                </a:solidFill>
                <a:latin typeface="Arial"/>
              </a:defRPr>
            </a:pPr>
            <a:r>
              <a:t>PROJECT WRAP-UP</a:t>
            </a:r>
          </a:p>
          <a:p>
            <a:br/>
            <a:pPr algn="l">
              <a:spcBef>
                <a:spcPts val="1000"/>
              </a:spcBef>
              <a:defRPr sz="1300">
                <a:solidFill>
                  <a:srgbClr val="E6E6E6"/>
                </a:solidFill>
                <a:latin typeface="Arial"/>
              </a:defRPr>
            </a:pPr>
            <a:r>
              <a:t>1. Academic Mission:</a:t>
            </a:r>
            <a:br/>
            <a:r>
              <a:t>God's Eye has successfully demonstrated that professional-grade CTI and OSINT capabilities can be built using open-source full-stack tech and free APIs.</a:t>
            </a:r>
            <a:br/>
            <a:br/>
            <a:r>
              <a:t>2. Strict Ethics Enforced:</a:t>
            </a:r>
            <a:br/>
            <a:r>
              <a:t>Bypasses standard tracking risks by integrating session watermarks and requiring user ethics checkboxes before every search.</a:t>
            </a:r>
            <a:br/>
            <a:br/>
            <a:r>
              <a:t>3. Project Status:</a:t>
            </a:r>
            <a:br/>
            <a:r>
              <a:t>Operational v1.0. All 12 modules tested at Presidency University, CSE Department.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