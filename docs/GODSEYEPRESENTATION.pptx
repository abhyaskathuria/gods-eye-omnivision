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7"/>
  </p:notesMasterIdLst>
  <p:sldIdLst>
    <p:sldId id="475" r:id="rId2"/>
    <p:sldId id="257" r:id="rId3"/>
    <p:sldId id="269" r:id="rId4"/>
    <p:sldId id="479" r:id="rId5"/>
    <p:sldId id="480" r:id="rId6"/>
    <p:sldId id="478" r:id="rId7"/>
    <p:sldId id="481" r:id="rId8"/>
    <p:sldId id="482" r:id="rId9"/>
    <p:sldId id="476" r:id="rId10"/>
    <p:sldId id="483" r:id="rId11"/>
    <p:sldId id="268" r:id="rId12"/>
    <p:sldId id="270" r:id="rId13"/>
    <p:sldId id="265" r:id="rId14"/>
    <p:sldId id="484" r:id="rId15"/>
    <p:sldId id="266" r:id="rId16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88" d="100"/>
          <a:sy n="88" d="100"/>
        </p:scale>
        <p:origin x="462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237FC12-A926-FAD7-EE8F-177BB3DC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D22596B-E54B-8162-523E-64A4B56DC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DC5B942-CBEB-D782-3485-1A561DD1A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5846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02D6882-F487-2BBE-6EE7-E6E2A877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D233CCE-6DC1-DF39-7D4B-A750048383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1C56AB1-8891-0ED9-FDF2-23495F7D0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54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2277662-8E39-D73C-659F-512D50DB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DD94DB1-D582-6E1F-C559-E46B9B2D8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5E943CF-FCED-2EE9-E700-E95999057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2376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9F1C071-B2B4-BBA1-2F73-75E9447B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DCDA99F-54EB-DB6E-8D36-1E302B72F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540217C-E8B7-C99C-2865-131A25A4B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797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235C88D-C7FC-8FBD-E724-18C9894A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2691D9E-4DBC-C04A-11B4-E84B361A1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AD666AE-999F-7381-3C0C-EFC56DD91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008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0D026FA-A984-BF80-DCA9-18014326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30F9342-7FAB-E89B-E365-7813C2003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A2283DE-C68F-9898-32F7-9438C9C45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8368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13E3B47B-EA65-F90F-5224-5548024A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>
            <a:extLst>
              <a:ext uri="{FF2B5EF4-FFF2-40B4-BE49-F238E27FC236}">
                <a16:creationId xmlns:a16="http://schemas.microsoft.com/office/drawing/2014/main" id="{1A327FFE-4C7B-26A6-D2C9-A1B5C8D97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>
            <a:extLst>
              <a:ext uri="{FF2B5EF4-FFF2-40B4-BE49-F238E27FC236}">
                <a16:creationId xmlns:a16="http://schemas.microsoft.com/office/drawing/2014/main" id="{831176D6-6B65-C3BD-DCC7-8A506428B7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8885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yasKathuria/Gods-Eye-OMNIVIS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roq.com/" TargetMode="External"/><Relationship Id="rId3" Type="http://schemas.openxmlformats.org/officeDocument/2006/relationships/hyperlink" Target="https://fastapi.tiangolo.com/" TargetMode="External"/><Relationship Id="rId7" Type="http://schemas.openxmlformats.org/officeDocument/2006/relationships/hyperlink" Target="https://openskynetwork.github.io/opensky-ap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shodan.io/" TargetMode="External"/><Relationship Id="rId5" Type="http://schemas.openxmlformats.org/officeDocument/2006/relationships/hyperlink" Target="https://developers.virustotal.com/" TargetMode="External"/><Relationship Id="rId4" Type="http://schemas.openxmlformats.org/officeDocument/2006/relationships/hyperlink" Target="https://react.dev/" TargetMode="External"/><Relationship Id="rId9" Type="http://schemas.openxmlformats.org/officeDocument/2006/relationships/hyperlink" Target="https://github.com/AbhyasKathuria/Gods-Eye-OMNIVISION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roq.com/" TargetMode="External"/><Relationship Id="rId3" Type="http://schemas.openxmlformats.org/officeDocument/2006/relationships/hyperlink" Target="https://fastapi.tiangolo.com/" TargetMode="External"/><Relationship Id="rId7" Type="http://schemas.openxmlformats.org/officeDocument/2006/relationships/hyperlink" Target="https://openskynetwork.github.io/opensky-ap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shodan.io/" TargetMode="External"/><Relationship Id="rId11" Type="http://schemas.openxmlformats.org/officeDocument/2006/relationships/hyperlink" Target="https://github.com/AbhyasKathuria/Gods-Eye-OMNIVISION" TargetMode="External"/><Relationship Id="rId5" Type="http://schemas.openxmlformats.org/officeDocument/2006/relationships/hyperlink" Target="https://developers.virustotal.com/" TargetMode="External"/><Relationship Id="rId10" Type="http://schemas.openxmlformats.org/officeDocument/2006/relationships/hyperlink" Target="https://arxiv.org/abs/2508.03599" TargetMode="External"/><Relationship Id="rId4" Type="http://schemas.openxmlformats.org/officeDocument/2006/relationships/hyperlink" Target="https://react.dev/" TargetMode="External"/><Relationship Id="rId9" Type="http://schemas.openxmlformats.org/officeDocument/2006/relationships/hyperlink" Target="https://doi.org/10.3390/math1012205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560060"/>
          </a:xfrm>
        </p:spPr>
        <p:txBody>
          <a:bodyPr/>
          <a:lstStyle/>
          <a:p>
            <a:pPr algn="ctr"/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 Mini Project (Review I)</a:t>
            </a:r>
            <a:b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GOD'S EYE (OMNIVISION)</a:t>
            </a: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893" y="1296773"/>
            <a:ext cx="10515600" cy="4661672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the Presidency University, Bengaluru in partial fulfillment  for the award of the degree of  Bachelor of Computer Applications(BCA)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Number : </a:t>
            </a:r>
          </a:p>
          <a:p>
            <a:pPr marL="0" indent="0" algn="ctr">
              <a:buNone/>
            </a:pPr>
            <a:endParaRPr lang="en-US" sz="1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None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</a:p>
          <a:p>
            <a:pPr marL="0" indent="0" algn="ctr" eaLnBrk="1" hangingPunct="1">
              <a:buNone/>
              <a:defRPr/>
            </a:pPr>
            <a:r>
              <a:rPr lang="en-I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Ms.Gazala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Zameer</a:t>
            </a:r>
            <a:b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BCA</a:t>
            </a:r>
            <a:b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Information Science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56654"/>
              </p:ext>
            </p:extLst>
          </p:nvPr>
        </p:nvGraphicFramePr>
        <p:xfrm>
          <a:off x="3435224" y="2457723"/>
          <a:ext cx="532155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777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2660777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Abhyas Kathuria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20241BCI0063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Tejas Singh Sisodia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20241BCI0055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7642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Sumana Biswas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20241BCI0089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27421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Dominic Melwin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20241BCI0097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000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468273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and Technologies to be used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317CE0-94D4-BCB9-D348-4A6AC6EDE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37220" y="934446"/>
            <a:ext cx="10149367" cy="423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300" b="1" dirty="0"/>
              <a:t>1. Clear definition of the problem</a:t>
            </a:r>
            <a:br>
              <a:rPr lang="en-IN" sz="1300" dirty="0"/>
            </a:br>
            <a:r>
              <a:rPr lang="en-IN" sz="1300" dirty="0"/>
              <a:t>Open-source intelligence (OSINT) work today is fragmented across dozens of disconnected, single-purpose tools — one for face recognition, another for breach lookups, another for IP/domain reputation, another for geolocation, another for social media recon. There is no unified platform that consolidates these capabilities into a single, coherent investigative workflow while enforcing responsible-use boundaries.</a:t>
            </a:r>
          </a:p>
          <a:p>
            <a:r>
              <a:rPr lang="en-IN" sz="1300" b="1" dirty="0"/>
              <a:t>2. Relevance and significance in real-world scenarios</a:t>
            </a:r>
            <a:br>
              <a:rPr lang="en-IN" sz="1300" dirty="0"/>
            </a:br>
            <a:r>
              <a:rPr lang="en-IN" sz="1300" dirty="0"/>
              <a:t>Cybersecurity analysts, digital forensics teams, journalists, and researchers routinely need to correlate identity, cyber, and geospatial signals to assess threats or verify information — but doing so manually across 10+ disparate tools is slow, error-prone, and hard to audit. As misinformation, deepfakes, and cyber threats grow more sophisticated (2026 context), the need for consolidated, AI-assisted intelligence tooling — used responsibly and legally — is increasingly critical for both professional practice and cybersecurity education.</a:t>
            </a:r>
          </a:p>
          <a:p>
            <a:r>
              <a:rPr lang="en-IN" sz="1300" b="1" dirty="0"/>
              <a:t>3. Gaps or limitations in existing solutions</a:t>
            </a:r>
            <a:endParaRPr lang="en-IN" sz="1300" dirty="0"/>
          </a:p>
          <a:p>
            <a:pPr lvl="0"/>
            <a:r>
              <a:rPr lang="en-IN" sz="1300" dirty="0"/>
              <a:t>Existing tools (</a:t>
            </a:r>
            <a:r>
              <a:rPr lang="en-IN" sz="1300" dirty="0" err="1"/>
              <a:t>Maltego</a:t>
            </a:r>
            <a:r>
              <a:rPr lang="en-IN" sz="1300" dirty="0"/>
              <a:t>, </a:t>
            </a:r>
            <a:r>
              <a:rPr lang="en-IN" sz="1300" dirty="0" err="1"/>
              <a:t>SpiderFoot</a:t>
            </a:r>
            <a:r>
              <a:rPr lang="en-IN" sz="1300" dirty="0"/>
              <a:t>, </a:t>
            </a:r>
            <a:r>
              <a:rPr lang="en-IN" sz="1300" dirty="0" err="1"/>
              <a:t>theHarvester</a:t>
            </a:r>
            <a:r>
              <a:rPr lang="en-IN" sz="1300" dirty="0"/>
              <a:t>, etc.) each specialize in one domain and require manual stitching-together of results.</a:t>
            </a:r>
          </a:p>
          <a:p>
            <a:pPr lvl="0"/>
            <a:r>
              <a:rPr lang="en-IN" sz="1300" dirty="0"/>
              <a:t>Most lack built-in audit logging, legal-basis capture, or DPDP/GDPR-style compliance safeguards before processing biometric or personal data.</a:t>
            </a:r>
          </a:p>
          <a:p>
            <a:pPr lvl="0"/>
            <a:r>
              <a:rPr lang="en-IN" sz="1300" dirty="0"/>
              <a:t>Few integrate a genuine AI reasoning layer that can correlate findings across modules automatically rather than presenting siloed raw output.</a:t>
            </a:r>
          </a:p>
          <a:p>
            <a:pPr lvl="0"/>
            <a:r>
              <a:rPr lang="en-IN" sz="1300" dirty="0"/>
              <a:t>Educational/training environments for OSINT are scarce — most tools assume professional deployment, not safe, scoped learning.</a:t>
            </a:r>
          </a:p>
          <a:p>
            <a:r>
              <a:rPr lang="en-IN" sz="1300" b="1" dirty="0"/>
              <a:t>4. Concise, specific, research-oriented statement</a:t>
            </a:r>
            <a:br>
              <a:rPr lang="en-IN" sz="1300" dirty="0"/>
            </a:br>
            <a:r>
              <a:rPr lang="en-IN" sz="1300" i="1" dirty="0"/>
              <a:t>"There exists no unified, AI-assisted, compliance-aware OSINT platform that consolidates identity, cyber, and geospatial intelligence gathering into a single research and educational environment — this project addresses that gap through God's Eye (OMNIVISION), a full-stack, multi-module intelligence platform built with responsible-use safeguards."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6FC717-855D-29E5-16CB-275C605E6AE3}"/>
              </a:ext>
            </a:extLst>
          </p:cNvPr>
          <p:cNvSpPr/>
          <p:nvPr/>
        </p:nvSpPr>
        <p:spPr>
          <a:xfrm>
            <a:off x="2132307" y="0"/>
            <a:ext cx="82569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SAMPLE 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CE3DBD-9B33-E2BC-F6FD-9398BA80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48354"/>
              </p:ext>
            </p:extLst>
          </p:nvPr>
        </p:nvGraphicFramePr>
        <p:xfrm>
          <a:off x="1763486" y="719665"/>
          <a:ext cx="8904516" cy="4994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172">
                  <a:extLst>
                    <a:ext uri="{9D8B030D-6E8A-4147-A177-3AD203B41FA5}">
                      <a16:colId xmlns:a16="http://schemas.microsoft.com/office/drawing/2014/main" val="2692635379"/>
                    </a:ext>
                  </a:extLst>
                </a:gridCol>
                <a:gridCol w="2968172">
                  <a:extLst>
                    <a:ext uri="{9D8B030D-6E8A-4147-A177-3AD203B41FA5}">
                      <a16:colId xmlns:a16="http://schemas.microsoft.com/office/drawing/2014/main" val="2707362730"/>
                    </a:ext>
                  </a:extLst>
                </a:gridCol>
                <a:gridCol w="2968172">
                  <a:extLst>
                    <a:ext uri="{9D8B030D-6E8A-4147-A177-3AD203B41FA5}">
                      <a16:colId xmlns:a16="http://schemas.microsoft.com/office/drawing/2014/main" val="397421600"/>
                    </a:ext>
                  </a:extLst>
                </a:gridCol>
              </a:tblGrid>
              <a:tr h="422527">
                <a:tc>
                  <a:txBody>
                    <a:bodyPr/>
                    <a:lstStyle/>
                    <a:p>
                      <a:r>
                        <a:rPr lang="en-IN" dirty="0"/>
                        <a:t>Reference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 Addressed by God's Eye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63924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Existing OSINT frameworks (</a:t>
                      </a:r>
                      <a:r>
                        <a:rPr lang="en-IN" dirty="0" err="1"/>
                        <a:t>Maltego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SpiderFoot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theHarvester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Powerful but fragmented — each tool covers one domain (recon, breach, 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Consolidates identity, cyber, geo, news, and graph intel into one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54838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r>
                        <a:rPr lang="en-IN" dirty="0"/>
                        <a:t>Facial recognition &amp; reverse image search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accuracy but raises consent/privacy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Ships with responsible-use statement, generic fixtures, no real-portrait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466759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r>
                        <a:rPr lang="en-IN" dirty="0"/>
                        <a:t>Threat intelligence scoring models (</a:t>
                      </a:r>
                      <a:r>
                        <a:rPr lang="en-IN" dirty="0" err="1"/>
                        <a:t>VirusTotal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AbuseIPDB</a:t>
                      </a:r>
                      <a:r>
                        <a:rPr lang="en-IN" dirty="0"/>
                        <a:t> methodologies)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Individual signals scored in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Unified 0–100 weighted threat score combining 6 independent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714046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r>
                        <a:rPr lang="en-IN" dirty="0"/>
                        <a:t>Data protection literature (India's DPDP Act,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Growing need for legal-basis capture before biometric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Planned DPDP compliance gateway before any face scan in Identity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52502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r>
                        <a:rPr lang="en-IN" dirty="0"/>
                        <a:t>AI-assisted investigation tools (LLM-based analyst copilots)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Emerging trend of LLMs summarizing/correlating OSINT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Brain module uses </a:t>
                      </a:r>
                      <a:r>
                        <a:rPr lang="en-IN" dirty="0" err="1"/>
                        <a:t>LLaMA</a:t>
                      </a:r>
                      <a:r>
                        <a:rPr lang="en-IN" dirty="0"/>
                        <a:t> 3.3 70B with live map/telemetry grounding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902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72185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0E7D303-5B40-5A7A-4972-2B7B317F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9A63FC6-CF69-82B0-5A5F-8F165FE81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Module Design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03A5E-B962-941F-4B4E-6F223325ACA3}"/>
              </a:ext>
            </a:extLst>
          </p:cNvPr>
          <p:cNvSpPr txBox="1"/>
          <p:nvPr/>
        </p:nvSpPr>
        <p:spPr>
          <a:xfrm>
            <a:off x="925434" y="1005670"/>
            <a:ext cx="10667999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r>
              <a:rPr lang="en-IN" sz="1300" b="1" dirty="0"/>
              <a:t>Brief Overview of the Project's Modular Architecture</a:t>
            </a:r>
          </a:p>
          <a:p>
            <a:r>
              <a:rPr lang="en-IN" sz="1300" dirty="0"/>
              <a:t>God's Eye (OMNIVISION) is built as a full-stack, service-oriented system: a React 18/Vite frontend communicates over REST with a </a:t>
            </a:r>
            <a:r>
              <a:rPr lang="en-IN" sz="1300" dirty="0" err="1"/>
              <a:t>FastAPI</a:t>
            </a:r>
            <a:r>
              <a:rPr lang="en-IN" sz="1300" dirty="0"/>
              <a:t> backend, where each intelligence capability is isolated into its own router and service file (/auth, /identity, /cyber, /geo, /news, /visual, /ai, /recon). Each backend router pairs with a dedicated frontend page, and all external API calls run in parallel via </a:t>
            </a:r>
            <a:r>
              <a:rPr lang="en-IN" sz="1300" dirty="0" err="1"/>
              <a:t>asyncio.gather</a:t>
            </a:r>
            <a:r>
              <a:rPr lang="en-IN" sz="1300" dirty="0"/>
              <a:t>() so one module's failure never blocks another. This gives the platform 14 functionally distinct intelligence modules operating under one unified authentication, logging, and theming layer.</a:t>
            </a:r>
          </a:p>
          <a:p>
            <a:endParaRPr lang="en-IN" sz="1300" dirty="0"/>
          </a:p>
          <a:p>
            <a:r>
              <a:rPr lang="en-IN" sz="1300" b="1" dirty="0"/>
              <a:t>Purpose of Dividing the Project into Modules</a:t>
            </a:r>
          </a:p>
          <a:p>
            <a:pPr lvl="0"/>
            <a:r>
              <a:rPr lang="en-IN" sz="1300" b="1" dirty="0"/>
              <a:t>Separation of concerns:</a:t>
            </a:r>
            <a:r>
              <a:rPr lang="en-IN" sz="1300" dirty="0"/>
              <a:t> Each OSINT domain (identity, cyber, geo, news, visual, AI) has its own service logic, so changes to one module (e.g., swapping a breach-check API) don't risk breaking others.</a:t>
            </a:r>
          </a:p>
          <a:p>
            <a:pPr lvl="0"/>
            <a:r>
              <a:rPr lang="en-IN" sz="1300" b="1" dirty="0"/>
              <a:t>Graceful degradation:</a:t>
            </a:r>
            <a:r>
              <a:rPr lang="en-IN" sz="1300" dirty="0"/>
              <a:t> Since modules call independent third-party APIs, if one API goes down (e.g., Shodan quota exhausted), the rest of the platform keeps functioning — critical for a system built on 50+ free-tier external dependencies.</a:t>
            </a:r>
          </a:p>
          <a:p>
            <a:pPr lvl="0"/>
            <a:r>
              <a:rPr lang="en-IN" sz="1300" b="1" dirty="0"/>
              <a:t>Scalability &amp; maintainability:</a:t>
            </a:r>
            <a:r>
              <a:rPr lang="en-IN" sz="1300" dirty="0"/>
              <a:t> New intelligence capabilities (e.g., the planned deepfake detection module) can be added as new routers/pages without touching existing modules.</a:t>
            </a:r>
          </a:p>
          <a:p>
            <a:pPr lvl="0"/>
            <a:r>
              <a:rPr lang="en-IN" sz="1300" b="1" dirty="0"/>
              <a:t>Role-based access control:</a:t>
            </a:r>
            <a:r>
              <a:rPr lang="en-IN" sz="1300" dirty="0"/>
              <a:t> Modular boundaries make it straightforward to gate access by role (ADMIN / RESEARCHER / STUDENT) at the module level.</a:t>
            </a:r>
          </a:p>
          <a:p>
            <a:pPr lvl="0"/>
            <a:r>
              <a:rPr lang="en-IN" sz="1300" b="1" dirty="0"/>
              <a:t>Testability:</a:t>
            </a:r>
            <a:r>
              <a:rPr lang="en-IN" sz="1300" dirty="0"/>
              <a:t> Each service can be unit-tested in isolation (test_auth.py, test_services.py) rather than requiring end-to-end tests for every change.</a:t>
            </a:r>
          </a:p>
          <a:p>
            <a:pPr algn="just"/>
            <a:endParaRPr 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361253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F43742D-E782-7B2B-477C-FB389773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3B9198E-092A-9BA4-E770-B551D722C9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Module Design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F7F58-9372-1CA6-DEF0-1718E64B39F3}"/>
              </a:ext>
            </a:extLst>
          </p:cNvPr>
          <p:cNvSpPr txBox="1"/>
          <p:nvPr/>
        </p:nvSpPr>
        <p:spPr>
          <a:xfrm>
            <a:off x="925434" y="1005670"/>
            <a:ext cx="10667999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Modular Breakdown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3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r>
              <a:rPr lang="en-IN" sz="1300" b="1" dirty="0"/>
              <a:t>Module 1: Identity &amp; Access Management (Auth)</a:t>
            </a:r>
            <a:br>
              <a:rPr lang="en-IN" sz="1300" dirty="0"/>
            </a:br>
            <a:r>
              <a:rPr lang="en-IN" sz="1300" dirty="0"/>
              <a:t>Handles user authentication and session security — JWT token issuance (8-hour expiry), </a:t>
            </a:r>
            <a:r>
              <a:rPr lang="en-IN" sz="1300" dirty="0" err="1"/>
              <a:t>bcrypt</a:t>
            </a:r>
            <a:r>
              <a:rPr lang="en-IN" sz="1300" dirty="0"/>
              <a:t>-salted password hashing, role-based access (admin/researcher/student), and mandatory first-run credential reset. This module is foundational: every other module's API calls are gated behind a valid JWT, ensuring the platform can't be used anonymously.</a:t>
            </a:r>
          </a:p>
          <a:p>
            <a:r>
              <a:rPr lang="en-IN" sz="1300" b="1" dirty="0"/>
              <a:t>Module 2: Identity &amp; Visual Intelligence Engine</a:t>
            </a:r>
            <a:br>
              <a:rPr lang="en-IN" sz="1300" dirty="0"/>
            </a:br>
            <a:r>
              <a:rPr lang="en-IN" sz="1300" dirty="0"/>
              <a:t>Covers facial analysis (</a:t>
            </a:r>
            <a:r>
              <a:rPr lang="en-IN" sz="1300" dirty="0" err="1"/>
              <a:t>Luxand.cloud</a:t>
            </a:r>
            <a:r>
              <a:rPr lang="en-IN" sz="1300" dirty="0"/>
              <a:t>, Face++), reverse image search (Yandex, Google, Bing, </a:t>
            </a:r>
            <a:r>
              <a:rPr lang="en-IN" sz="1300" dirty="0" err="1"/>
              <a:t>SauceNAO</a:t>
            </a:r>
            <a:r>
              <a:rPr lang="en-IN" sz="1300" dirty="0"/>
              <a:t>, FaceCheck.id), and EXIF/GPS metadata extraction from uploaded images. Its role is converting a photo or username into a structured identity profile — this is the module with the highest privacy sensitivity, so it's the one earmarked for the DPDP-compliance gateway (mandatory legal-basis capture before any face scan).</a:t>
            </a:r>
          </a:p>
          <a:p>
            <a:r>
              <a:rPr lang="en-IN" sz="1300" b="1" dirty="0"/>
              <a:t>Module 3: Cyber &amp; Threat Intelligence Engine</a:t>
            </a:r>
            <a:br>
              <a:rPr lang="en-IN" sz="1300" dirty="0"/>
            </a:br>
            <a:r>
              <a:rPr lang="en-IN" sz="1300" dirty="0"/>
              <a:t>Aggregates IP/domain reputation (</a:t>
            </a:r>
            <a:r>
              <a:rPr lang="en-IN" sz="1300" dirty="0" err="1"/>
              <a:t>AbuseIPDB</a:t>
            </a:r>
            <a:r>
              <a:rPr lang="en-IN" sz="1300" dirty="0"/>
              <a:t>, </a:t>
            </a:r>
            <a:r>
              <a:rPr lang="en-IN" sz="1300" dirty="0" err="1"/>
              <a:t>WhoisXML</a:t>
            </a:r>
            <a:r>
              <a:rPr lang="en-IN" sz="1300" dirty="0"/>
              <a:t>), malware/URL scanning (</a:t>
            </a:r>
            <a:r>
              <a:rPr lang="en-IN" sz="1300" dirty="0" err="1"/>
              <a:t>VirusTotal</a:t>
            </a:r>
            <a:r>
              <a:rPr lang="en-IN" sz="1300" dirty="0"/>
              <a:t>, </a:t>
            </a:r>
            <a:r>
              <a:rPr lang="en-IN" sz="1300" dirty="0" err="1"/>
              <a:t>URLhaus</a:t>
            </a:r>
            <a:r>
              <a:rPr lang="en-IN" sz="1300" dirty="0"/>
              <a:t>), device exposure scanning (Shodan), and breach checking (LeakCheck.io). It feeds into the unified 0–100 Threat Score Calculator, which weights six signals (VT engines, </a:t>
            </a:r>
            <a:r>
              <a:rPr lang="en-IN" sz="1300" dirty="0" err="1"/>
              <a:t>AbuseIPDB</a:t>
            </a:r>
            <a:r>
              <a:rPr lang="en-IN" sz="1300" dirty="0"/>
              <a:t> confidence, domain age, breach count, GPS-in-metadata, news sentiment) into a single risk rating — this is the module that turns raw signals into an actionable verdict.</a:t>
            </a:r>
          </a:p>
          <a:p>
            <a:r>
              <a:rPr lang="en-IN" sz="1300" b="1" dirty="0"/>
              <a:t>Module 4: Geospatial &amp; Real-Time Tracking Engine</a:t>
            </a:r>
            <a:br>
              <a:rPr lang="en-IN" sz="1300" dirty="0"/>
            </a:br>
            <a:r>
              <a:rPr lang="en-IN" sz="1300" dirty="0"/>
              <a:t>Powers the Geo Tracker — live flight tracking (</a:t>
            </a:r>
            <a:r>
              <a:rPr lang="en-IN" sz="1300" dirty="0" err="1"/>
              <a:t>OpenSky</a:t>
            </a:r>
            <a:r>
              <a:rPr lang="en-IN" sz="1300" dirty="0"/>
              <a:t>, ADS-B), earthquake feeds (USGS), satellite orbits (</a:t>
            </a:r>
            <a:r>
              <a:rPr lang="en-IN" sz="1300" dirty="0" err="1"/>
              <a:t>CelesTrak</a:t>
            </a:r>
            <a:r>
              <a:rPr lang="en-IN" sz="1300" dirty="0"/>
              <a:t>), marine traffic, and Wi-Fi network mapping (Wigle.net) — rendered on a Leaflet map with tactical visual reskins (NVG/FLIR/Noir). Its role is real-time situational awareness, geolocating a target or event using live public telemetry feeds.</a:t>
            </a:r>
          </a:p>
          <a:p>
            <a:r>
              <a:rPr lang="en-IN" sz="1300" b="1" dirty="0"/>
              <a:t>Module 5: News &amp; Sentiment Monitor</a:t>
            </a:r>
            <a:br>
              <a:rPr lang="en-IN" sz="1300" dirty="0"/>
            </a:br>
            <a:r>
              <a:rPr lang="en-IN" sz="1300" dirty="0"/>
              <a:t>Pulls headlines and social discussion (</a:t>
            </a:r>
            <a:r>
              <a:rPr lang="en-IN" sz="1300" dirty="0" err="1"/>
              <a:t>NewsAPI</a:t>
            </a:r>
            <a:r>
              <a:rPr lang="en-IN" sz="1300" dirty="0"/>
              <a:t>, GDELT, Reddit, </a:t>
            </a:r>
            <a:r>
              <a:rPr lang="en-IN" sz="1300" dirty="0" err="1"/>
              <a:t>MediaStack</a:t>
            </a:r>
            <a:r>
              <a:rPr lang="en-IN" sz="1300" dirty="0"/>
              <a:t>) and runs sentiment analysis to correlate a target's real-world media footprint with the intelligence gathered elsewhere.</a:t>
            </a:r>
          </a:p>
        </p:txBody>
      </p:sp>
    </p:spTree>
    <p:extLst>
      <p:ext uri="{BB962C8B-B14F-4D97-AF65-F5344CB8AC3E}">
        <p14:creationId xmlns:p14="http://schemas.microsoft.com/office/powerpoint/2010/main" val="2986091532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83A96C4-AFDB-2FD1-1C31-090A0DD7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388FFB1-BE48-5A4C-18ED-E8BC2F6760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Module Design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D18B3-E617-BC6B-2055-7B4DE1349EBB}"/>
              </a:ext>
            </a:extLst>
          </p:cNvPr>
          <p:cNvSpPr txBox="1"/>
          <p:nvPr/>
        </p:nvSpPr>
        <p:spPr>
          <a:xfrm>
            <a:off x="925434" y="1005670"/>
            <a:ext cx="1066799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Modular Breakdown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n-US" sz="13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r>
              <a:rPr lang="en-IN" sz="1300" b="1" dirty="0"/>
              <a:t>Module 6: AI Correlation Engine (AI Brain)</a:t>
            </a:r>
            <a:br>
              <a:rPr lang="en-IN" sz="1300" dirty="0"/>
            </a:br>
            <a:r>
              <a:rPr lang="en-IN" sz="1300" dirty="0"/>
              <a:t>The reasoning layer — </a:t>
            </a:r>
            <a:r>
              <a:rPr lang="en-IN" sz="1300" dirty="0" err="1"/>
              <a:t>LLaMA</a:t>
            </a:r>
            <a:r>
              <a:rPr lang="en-IN" sz="1300" dirty="0"/>
              <a:t> 3.3 70B via </a:t>
            </a:r>
            <a:r>
              <a:rPr lang="en-IN" sz="1300" dirty="0" err="1"/>
              <a:t>Groq</a:t>
            </a:r>
            <a:r>
              <a:rPr lang="en-IN" sz="1300" dirty="0"/>
              <a:t>, grounded with live telemetry context (map coordinates, active layer, zoom) from the Geo module. Its importance is architectural: rather than presenting siloed module outputs, this engine cross-references identity, cyber, and geo signals into a single natural-language intelligence report, which is the platform's core differentiator versus single-purpose OSINT tools.</a:t>
            </a:r>
          </a:p>
          <a:p>
            <a:r>
              <a:rPr lang="en-IN" sz="1300" b="1" dirty="0"/>
              <a:t>Module 7: Reporting &amp; Export Engine</a:t>
            </a:r>
            <a:br>
              <a:rPr lang="en-IN" sz="1300" dirty="0"/>
            </a:br>
            <a:r>
              <a:rPr lang="en-IN" sz="1300" dirty="0"/>
              <a:t>Consolidates findings from any module into PDF/JSON/TXT reports with platform branding and educational watermarking — the output layer that turns raw module data into a deliverable investigative artifact.</a:t>
            </a:r>
          </a:p>
        </p:txBody>
      </p:sp>
    </p:spTree>
    <p:extLst>
      <p:ext uri="{BB962C8B-B14F-4D97-AF65-F5344CB8AC3E}">
        <p14:creationId xmlns:p14="http://schemas.microsoft.com/office/powerpoint/2010/main" val="3831053176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A937712-95FB-4BCB-3EA3-409295BD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B6EC19-5B09-835D-F126-8CBF900F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823" y="-17758"/>
            <a:ext cx="10696354" cy="1143000"/>
          </a:xfrm>
        </p:spPr>
        <p:txBody>
          <a:bodyPr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And Technologies To Be Used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CE6ED5-C440-4370-E67A-C75F997A3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637" y="1663995"/>
            <a:ext cx="10164726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300" b="1" dirty="0"/>
              <a:t>Development Tools</a:t>
            </a:r>
            <a:endParaRPr lang="en-IN" sz="1300" dirty="0"/>
          </a:p>
          <a:p>
            <a:pPr lvl="0"/>
            <a:r>
              <a:rPr lang="en-IN" sz="1300" dirty="0"/>
              <a:t>Visual Studio Code (primary IDE)</a:t>
            </a:r>
          </a:p>
          <a:p>
            <a:pPr lvl="0"/>
            <a:r>
              <a:rPr lang="en-IN" sz="1300" dirty="0"/>
              <a:t>Docker Desktop + Docker Compose (containerized builds/deployment)</a:t>
            </a:r>
          </a:p>
          <a:p>
            <a:pPr lvl="0"/>
            <a:r>
              <a:rPr lang="en-IN" sz="1300" dirty="0"/>
              <a:t>Postman / Thunder Client (API testing)</a:t>
            </a:r>
          </a:p>
          <a:p>
            <a:pPr marL="0" indent="0">
              <a:buNone/>
            </a:pPr>
            <a:r>
              <a:rPr lang="en-IN" sz="1300" b="1" dirty="0"/>
              <a:t>Programming Languages</a:t>
            </a:r>
            <a:endParaRPr lang="en-IN" sz="1300" dirty="0"/>
          </a:p>
          <a:p>
            <a:pPr lvl="0"/>
            <a:r>
              <a:rPr lang="en-IN" sz="1300" dirty="0"/>
              <a:t>Python 3.10+ (backend)</a:t>
            </a:r>
          </a:p>
          <a:p>
            <a:pPr lvl="0"/>
            <a:r>
              <a:rPr lang="en-IN" sz="1300" dirty="0"/>
              <a:t>JavaScript (ES6+) (frontend)</a:t>
            </a:r>
          </a:p>
        </p:txBody>
      </p:sp>
    </p:spTree>
    <p:extLst>
      <p:ext uri="{BB962C8B-B14F-4D97-AF65-F5344CB8AC3E}">
        <p14:creationId xmlns:p14="http://schemas.microsoft.com/office/powerpoint/2010/main" val="1866249633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8FEFCB6-E495-C8D1-A4B4-DB711C75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7EE171-E143-6383-8BA5-E447B945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823" y="-17758"/>
            <a:ext cx="10696354" cy="1143000"/>
          </a:xfrm>
        </p:spPr>
        <p:txBody>
          <a:bodyPr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And Technologies To Be Used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158C02-4ADF-2A2E-85C5-99FC60D09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637" y="1663995"/>
            <a:ext cx="10164726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300" b="1" dirty="0"/>
              <a:t>Frameworks/Libraries</a:t>
            </a:r>
            <a:endParaRPr lang="en-IN" sz="1300" dirty="0"/>
          </a:p>
          <a:p>
            <a:pPr lvl="0"/>
            <a:r>
              <a:rPr lang="en-IN" sz="1300" b="1" dirty="0"/>
              <a:t>Frontend:</a:t>
            </a:r>
            <a:r>
              <a:rPr lang="en-IN" sz="1300" dirty="0"/>
              <a:t> React 18, Vite, Tailwind CSS, Leaflet.js (maps), Axios (HTTP), React Router DOM</a:t>
            </a:r>
          </a:p>
          <a:p>
            <a:pPr lvl="0"/>
            <a:r>
              <a:rPr lang="en-IN" sz="1300" b="1" dirty="0"/>
              <a:t>Backend:</a:t>
            </a:r>
            <a:r>
              <a:rPr lang="en-IN" sz="1300" dirty="0"/>
              <a:t> </a:t>
            </a:r>
            <a:r>
              <a:rPr lang="en-IN" sz="1300" dirty="0" err="1"/>
              <a:t>FastAPI</a:t>
            </a:r>
            <a:r>
              <a:rPr lang="en-IN" sz="1300" dirty="0"/>
              <a:t>, </a:t>
            </a:r>
            <a:r>
              <a:rPr lang="en-IN" sz="1300" dirty="0" err="1"/>
              <a:t>Uvicorn</a:t>
            </a:r>
            <a:r>
              <a:rPr lang="en-IN" sz="1300" dirty="0"/>
              <a:t> (ASGI server), </a:t>
            </a:r>
            <a:r>
              <a:rPr lang="en-IN" sz="1300" dirty="0" err="1"/>
              <a:t>httpx</a:t>
            </a:r>
            <a:r>
              <a:rPr lang="en-IN" sz="1300" dirty="0"/>
              <a:t> (async HTTP client), </a:t>
            </a:r>
            <a:r>
              <a:rPr lang="en-IN" sz="1300" dirty="0" err="1"/>
              <a:t>Pydantic</a:t>
            </a:r>
            <a:r>
              <a:rPr lang="en-IN" sz="1300" dirty="0"/>
              <a:t> Settings</a:t>
            </a:r>
          </a:p>
          <a:p>
            <a:pPr lvl="0"/>
            <a:r>
              <a:rPr lang="en-IN" sz="1300" b="1" dirty="0"/>
              <a:t>Auth/Security:</a:t>
            </a:r>
            <a:r>
              <a:rPr lang="en-IN" sz="1300" dirty="0"/>
              <a:t> </a:t>
            </a:r>
            <a:r>
              <a:rPr lang="en-IN" sz="1300" dirty="0" err="1"/>
              <a:t>PyJWT</a:t>
            </a:r>
            <a:r>
              <a:rPr lang="en-IN" sz="1300" dirty="0"/>
              <a:t>, </a:t>
            </a:r>
            <a:r>
              <a:rPr lang="en-IN" sz="1300" dirty="0" err="1"/>
              <a:t>bcrypt</a:t>
            </a:r>
            <a:endParaRPr lang="en-IN" sz="1300" dirty="0"/>
          </a:p>
          <a:p>
            <a:pPr lvl="0"/>
            <a:r>
              <a:rPr lang="en-IN" sz="1300" b="1" dirty="0"/>
              <a:t>AI/Image Processing:</a:t>
            </a:r>
            <a:r>
              <a:rPr lang="en-IN" sz="1300" dirty="0"/>
              <a:t> </a:t>
            </a:r>
            <a:r>
              <a:rPr lang="en-IN" sz="1300" dirty="0" err="1"/>
              <a:t>Groq</a:t>
            </a:r>
            <a:r>
              <a:rPr lang="en-IN" sz="1300" dirty="0"/>
              <a:t> SDK (</a:t>
            </a:r>
            <a:r>
              <a:rPr lang="en-IN" sz="1300" dirty="0" err="1"/>
              <a:t>LLaMA</a:t>
            </a:r>
            <a:r>
              <a:rPr lang="en-IN" sz="1300" dirty="0"/>
              <a:t> 3.3 70B), Pillow (PIL)</a:t>
            </a:r>
          </a:p>
          <a:p>
            <a:pPr lvl="0"/>
            <a:r>
              <a:rPr lang="en-IN" sz="1300" b="1" dirty="0"/>
              <a:t>Testing:</a:t>
            </a:r>
            <a:r>
              <a:rPr lang="en-IN" sz="1300" dirty="0"/>
              <a:t> </a:t>
            </a:r>
            <a:r>
              <a:rPr lang="en-IN" sz="1300" dirty="0" err="1"/>
              <a:t>pytest</a:t>
            </a:r>
            <a:r>
              <a:rPr lang="en-IN" sz="1300" dirty="0"/>
              <a:t>, </a:t>
            </a:r>
            <a:r>
              <a:rPr lang="en-IN" sz="1300" dirty="0" err="1"/>
              <a:t>pytest-asyncio</a:t>
            </a:r>
            <a:endParaRPr lang="en-IN" sz="1300" dirty="0"/>
          </a:p>
          <a:p>
            <a:pPr marL="0" indent="0">
              <a:buNone/>
            </a:pPr>
            <a:r>
              <a:rPr lang="en-IN" sz="1300" b="1" dirty="0"/>
              <a:t>Database</a:t>
            </a:r>
            <a:endParaRPr lang="en-IN" sz="1300" dirty="0"/>
          </a:p>
          <a:p>
            <a:pPr lvl="0"/>
            <a:r>
              <a:rPr lang="en-IN" sz="1300" dirty="0"/>
              <a:t>Lightweight JSON-based local data store (database/</a:t>
            </a:r>
            <a:r>
              <a:rPr lang="en-IN" sz="1300" dirty="0" err="1"/>
              <a:t>users.json</a:t>
            </a:r>
            <a:r>
              <a:rPr lang="en-IN" sz="1300" dirty="0"/>
              <a:t>, auto-seeded on startup) for user accounts and activity logs</a:t>
            </a:r>
          </a:p>
          <a:p>
            <a:pPr lvl="0"/>
            <a:r>
              <a:rPr lang="en-IN" sz="1300" i="1" dirty="0"/>
              <a:t>(If your supervisor expects a formal RDBMS/NoSQL entry, this is a good place to note a planned migration to PostgreSQL — flag if you want me to word it that way)</a:t>
            </a:r>
          </a:p>
        </p:txBody>
      </p:sp>
    </p:spTree>
    <p:extLst>
      <p:ext uri="{BB962C8B-B14F-4D97-AF65-F5344CB8AC3E}">
        <p14:creationId xmlns:p14="http://schemas.microsoft.com/office/powerpoint/2010/main" val="3250896396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74073AC-6B0D-7AA2-2476-22CD0D0F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1169D0-4726-B7B1-089E-6872CE61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823" y="-17758"/>
            <a:ext cx="10696354" cy="1143000"/>
          </a:xfrm>
        </p:spPr>
        <p:txBody>
          <a:bodyPr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And Technologies To Be Used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4D95FB-9887-39C2-FA79-ED5923ACA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637" y="1663995"/>
            <a:ext cx="10164726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300" b="1" dirty="0"/>
              <a:t>Version Control</a:t>
            </a:r>
            <a:endParaRPr lang="en-IN" sz="1300" dirty="0"/>
          </a:p>
          <a:p>
            <a:pPr lvl="0"/>
            <a:r>
              <a:rPr lang="en-IN" sz="1300" dirty="0"/>
              <a:t>Git + GitHub (public repo: </a:t>
            </a:r>
            <a:r>
              <a:rPr lang="en-IN" sz="1300" dirty="0" err="1"/>
              <a:t>AbhyasKathuria</a:t>
            </a:r>
            <a:r>
              <a:rPr lang="en-IN" sz="1300" dirty="0"/>
              <a:t>/Gods-Eye-OMNIVISION)</a:t>
            </a:r>
          </a:p>
          <a:p>
            <a:pPr lvl="0"/>
            <a:r>
              <a:rPr lang="en-IN" sz="1300" dirty="0"/>
              <a:t>GitHub Actions (CI pipeline — automated test/build on push and PR)</a:t>
            </a:r>
          </a:p>
          <a:p>
            <a:pPr marL="0" indent="0">
              <a:buNone/>
            </a:pPr>
            <a:r>
              <a:rPr lang="en-IN" sz="1300" b="1" dirty="0"/>
              <a:t>Additional Tools / Cloud Services / APIs</a:t>
            </a:r>
            <a:endParaRPr lang="en-IN" sz="1300" dirty="0"/>
          </a:p>
          <a:p>
            <a:pPr lvl="0"/>
            <a:r>
              <a:rPr lang="en-IN" sz="1300" b="1" dirty="0"/>
              <a:t>AI:</a:t>
            </a:r>
            <a:r>
              <a:rPr lang="en-IN" sz="1300" dirty="0"/>
              <a:t> </a:t>
            </a:r>
            <a:r>
              <a:rPr lang="en-IN" sz="1300" dirty="0" err="1"/>
              <a:t>Groq</a:t>
            </a:r>
            <a:r>
              <a:rPr lang="en-IN" sz="1300" dirty="0"/>
              <a:t> API (</a:t>
            </a:r>
            <a:r>
              <a:rPr lang="en-IN" sz="1300" dirty="0" err="1"/>
              <a:t>LLaMA</a:t>
            </a:r>
            <a:r>
              <a:rPr lang="en-IN" sz="1300" dirty="0"/>
              <a:t> 3.3 70B), Google Gemini (backup)</a:t>
            </a:r>
          </a:p>
          <a:p>
            <a:pPr lvl="0"/>
            <a:r>
              <a:rPr lang="en-IN" sz="1300" b="1" dirty="0"/>
              <a:t>Cyber Intel APIs:</a:t>
            </a:r>
            <a:r>
              <a:rPr lang="en-IN" sz="1300" dirty="0"/>
              <a:t> Shodan, </a:t>
            </a:r>
            <a:r>
              <a:rPr lang="en-IN" sz="1300" dirty="0" err="1"/>
              <a:t>VirusTotal</a:t>
            </a:r>
            <a:r>
              <a:rPr lang="en-IN" sz="1300" dirty="0"/>
              <a:t>, </a:t>
            </a:r>
            <a:r>
              <a:rPr lang="en-IN" sz="1300" dirty="0" err="1"/>
              <a:t>AbuseIPDB</a:t>
            </a:r>
            <a:r>
              <a:rPr lang="en-IN" sz="1300" dirty="0"/>
              <a:t>, </a:t>
            </a:r>
            <a:r>
              <a:rPr lang="en-IN" sz="1300" dirty="0" err="1"/>
              <a:t>WhoisXML</a:t>
            </a:r>
            <a:r>
              <a:rPr lang="en-IN" sz="1300" dirty="0"/>
              <a:t>, URLScan.io, </a:t>
            </a:r>
            <a:r>
              <a:rPr lang="en-IN" sz="1300" dirty="0" err="1"/>
              <a:t>URLhaus</a:t>
            </a:r>
            <a:r>
              <a:rPr lang="en-IN" sz="1300" dirty="0"/>
              <a:t>, LeakCheck.io</a:t>
            </a:r>
          </a:p>
          <a:p>
            <a:pPr lvl="0"/>
            <a:r>
              <a:rPr lang="en-IN" sz="1300" b="1" dirty="0"/>
              <a:t>Geo/Tracking APIs:</a:t>
            </a:r>
            <a:r>
              <a:rPr lang="en-IN" sz="1300" dirty="0"/>
              <a:t> </a:t>
            </a:r>
            <a:r>
              <a:rPr lang="en-IN" sz="1300" dirty="0" err="1"/>
              <a:t>OpenSky</a:t>
            </a:r>
            <a:r>
              <a:rPr lang="en-IN" sz="1300" dirty="0"/>
              <a:t> Network, USGS Earthquakes, </a:t>
            </a:r>
            <a:r>
              <a:rPr lang="en-IN" sz="1300" dirty="0" err="1"/>
              <a:t>CelesTrak</a:t>
            </a:r>
            <a:r>
              <a:rPr lang="en-IN" sz="1300" dirty="0"/>
              <a:t>, </a:t>
            </a:r>
            <a:r>
              <a:rPr lang="en-IN" sz="1300" dirty="0" err="1"/>
              <a:t>adsb.lol</a:t>
            </a:r>
            <a:r>
              <a:rPr lang="en-IN" sz="1300" dirty="0"/>
              <a:t>, Wigle.net, </a:t>
            </a:r>
            <a:r>
              <a:rPr lang="en-IN" sz="1300" dirty="0" err="1"/>
              <a:t>OpenWeatherMap</a:t>
            </a:r>
            <a:r>
              <a:rPr lang="en-IN" sz="1300" dirty="0"/>
              <a:t>, </a:t>
            </a:r>
            <a:r>
              <a:rPr lang="en-IN" sz="1300" dirty="0" err="1"/>
              <a:t>Nominatim</a:t>
            </a:r>
            <a:r>
              <a:rPr lang="en-IN" sz="1300" dirty="0"/>
              <a:t>/OSM</a:t>
            </a:r>
          </a:p>
          <a:p>
            <a:pPr lvl="0"/>
            <a:r>
              <a:rPr lang="en-IN" sz="1300" b="1" dirty="0"/>
              <a:t>News/Social APIs:</a:t>
            </a:r>
            <a:r>
              <a:rPr lang="en-IN" sz="1300" dirty="0"/>
              <a:t> </a:t>
            </a:r>
            <a:r>
              <a:rPr lang="en-IN" sz="1300" dirty="0" err="1"/>
              <a:t>NewsAPI</a:t>
            </a:r>
            <a:r>
              <a:rPr lang="en-IN" sz="1300" dirty="0"/>
              <a:t>, GDELT, </a:t>
            </a:r>
            <a:r>
              <a:rPr lang="en-IN" sz="1300" dirty="0" err="1"/>
              <a:t>MediaStack</a:t>
            </a:r>
            <a:r>
              <a:rPr lang="en-IN" sz="1300" dirty="0"/>
              <a:t>, Reddit (public JSON)</a:t>
            </a:r>
          </a:p>
          <a:p>
            <a:pPr lvl="0"/>
            <a:r>
              <a:rPr lang="en-IN" sz="1300" b="1" dirty="0"/>
              <a:t>Identity APIs:</a:t>
            </a:r>
            <a:r>
              <a:rPr lang="en-IN" sz="1300" dirty="0"/>
              <a:t> </a:t>
            </a:r>
            <a:r>
              <a:rPr lang="en-IN" sz="1300" dirty="0" err="1"/>
              <a:t>Luxand.cloud</a:t>
            </a:r>
            <a:r>
              <a:rPr lang="en-IN" sz="1300" dirty="0"/>
              <a:t>, Face++, </a:t>
            </a:r>
            <a:r>
              <a:rPr lang="en-IN" sz="1300" dirty="0" err="1"/>
              <a:t>SauceNAO</a:t>
            </a:r>
            <a:r>
              <a:rPr lang="en-IN" sz="1300" dirty="0"/>
              <a:t>, FaceCheck.id</a:t>
            </a:r>
          </a:p>
          <a:p>
            <a:pPr lvl="0"/>
            <a:r>
              <a:rPr lang="en-IN" sz="1300" b="1" dirty="0"/>
              <a:t>Blockchain:</a:t>
            </a:r>
            <a:r>
              <a:rPr lang="en-IN" sz="1300" dirty="0"/>
              <a:t> </a:t>
            </a:r>
            <a:r>
              <a:rPr lang="en-IN" sz="1300" dirty="0" err="1"/>
              <a:t>Etherscan</a:t>
            </a:r>
            <a:r>
              <a:rPr lang="en-IN" sz="1300" dirty="0"/>
              <a:t> (ETH), </a:t>
            </a:r>
            <a:r>
              <a:rPr lang="en-IN" sz="1300" dirty="0" err="1"/>
              <a:t>Blockcypher</a:t>
            </a:r>
            <a:r>
              <a:rPr lang="en-IN" sz="1300" dirty="0"/>
              <a:t> (BTC)</a:t>
            </a:r>
          </a:p>
          <a:p>
            <a:pPr lvl="0"/>
            <a:r>
              <a:rPr lang="en-IN" sz="1300" b="1" dirty="0"/>
              <a:t>Deployment:</a:t>
            </a:r>
            <a:r>
              <a:rPr lang="en-IN" sz="1300" dirty="0"/>
              <a:t> Docker containerization for cross-platform launch</a:t>
            </a:r>
          </a:p>
        </p:txBody>
      </p:sp>
    </p:spTree>
    <p:extLst>
      <p:ext uri="{BB962C8B-B14F-4D97-AF65-F5344CB8AC3E}">
        <p14:creationId xmlns:p14="http://schemas.microsoft.com/office/powerpoint/2010/main" val="3533003463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ctr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IN" sz="1300" b="1" dirty="0">
                <a:latin typeface="Calibri (Body)"/>
              </a:rPr>
              <a:t>GitHub Repository:</a:t>
            </a:r>
          </a:p>
          <a:p>
            <a:pPr marL="76200" indent="0">
              <a:buNone/>
            </a:pPr>
            <a:br>
              <a:rPr lang="en-IN" sz="1300" dirty="0">
                <a:latin typeface="Calibri (Body)"/>
              </a:rPr>
            </a:br>
            <a:r>
              <a:rPr lang="en-IN" sz="1300" dirty="0">
                <a:latin typeface="Calibri (Body)"/>
                <a:hlinkClick r:id="rId3"/>
              </a:rPr>
              <a:t>https://github.com/AbhyasKathuria/Gods-Eye-OMNIVISION</a:t>
            </a:r>
            <a:endParaRPr lang="en-IN" sz="1300" dirty="0">
              <a:latin typeface="Calibri (Body)"/>
            </a:endParaRPr>
          </a:p>
          <a:p>
            <a:pPr marL="76200" indent="0">
              <a:buNone/>
            </a:pPr>
            <a:endParaRPr lang="en-IN" sz="1300" dirty="0">
              <a:latin typeface="Calibri (Body)"/>
            </a:endParaRPr>
          </a:p>
          <a:p>
            <a:pPr marL="76200" indent="0">
              <a:buNone/>
            </a:pPr>
            <a:r>
              <a:rPr lang="en-IN" sz="1300" dirty="0">
                <a:latin typeface="Calibri (Body)"/>
              </a:rPr>
              <a:t>✅ </a:t>
            </a:r>
            <a:r>
              <a:rPr lang="en-IN" sz="1300" b="1" dirty="0">
                <a:latin typeface="Calibri (Body)"/>
              </a:rPr>
              <a:t>Public access confirmed</a:t>
            </a:r>
            <a:r>
              <a:rPr lang="en-IN" sz="1300" dirty="0">
                <a:latin typeface="Calibri (Body)"/>
              </a:rPr>
              <a:t> — repository is publicly visible (no login required to view code, docs, or structure).</a:t>
            </a:r>
          </a:p>
          <a:p>
            <a:pPr marL="76200" indent="0">
              <a:buNone/>
            </a:pPr>
            <a:endParaRPr lang="en-IN" sz="1300" dirty="0">
              <a:latin typeface="Calibri (Body)"/>
            </a:endParaRPr>
          </a:p>
          <a:p>
            <a:pPr marL="76200" indent="0">
              <a:buNone/>
            </a:pPr>
            <a:r>
              <a:rPr lang="en-IN" sz="1300" b="1" dirty="0">
                <a:latin typeface="Calibri (Body)"/>
              </a:rPr>
              <a:t>What the repository showcases:</a:t>
            </a:r>
            <a:endParaRPr lang="en-IN" sz="1300" dirty="0">
              <a:latin typeface="Calibri (Body)"/>
            </a:endParaRPr>
          </a:p>
          <a:p>
            <a:pPr lvl="0"/>
            <a:r>
              <a:rPr lang="en-IN" sz="1300" dirty="0">
                <a:latin typeface="Calibri (Body)"/>
              </a:rPr>
              <a:t>Full source code — frontend/ (React 18 + Vite) and backend/ (</a:t>
            </a:r>
            <a:r>
              <a:rPr lang="en-IN" sz="1300" dirty="0" err="1">
                <a:latin typeface="Calibri (Body)"/>
              </a:rPr>
              <a:t>FastAPI</a:t>
            </a:r>
            <a:r>
              <a:rPr lang="en-IN" sz="1300" dirty="0">
                <a:latin typeface="Calibri (Body)"/>
              </a:rPr>
              <a:t> + Python)</a:t>
            </a:r>
          </a:p>
          <a:p>
            <a:pPr lvl="0"/>
            <a:r>
              <a:rPr lang="en-IN" sz="1300" dirty="0">
                <a:latin typeface="Calibri (Body)"/>
              </a:rPr>
              <a:t>Documentation: README.md, SECURITY.md, Gods_Eye_Documentation.docx</a:t>
            </a:r>
          </a:p>
          <a:p>
            <a:pPr lvl="0"/>
            <a:r>
              <a:rPr lang="en-IN" sz="1300" dirty="0">
                <a:latin typeface="Calibri (Body)"/>
              </a:rPr>
              <a:t>Supporting deliverables: Gods_Eye_Presentation_Final.pptx, Gods_Eye_Research_Paper.pdf</a:t>
            </a:r>
          </a:p>
          <a:p>
            <a:pPr lvl="0"/>
            <a:r>
              <a:rPr lang="en-IN" sz="1300" dirty="0">
                <a:latin typeface="Calibri (Body)"/>
              </a:rPr>
              <a:t>CI pipeline: .</a:t>
            </a:r>
            <a:r>
              <a:rPr lang="en-IN" sz="1300" dirty="0" err="1">
                <a:latin typeface="Calibri (Body)"/>
              </a:rPr>
              <a:t>github</a:t>
            </a:r>
            <a:r>
              <a:rPr lang="en-IN" sz="1300" dirty="0">
                <a:latin typeface="Calibri (Body)"/>
              </a:rPr>
              <a:t>/workflows/</a:t>
            </a:r>
            <a:r>
              <a:rPr lang="en-IN" sz="1300" dirty="0" err="1">
                <a:latin typeface="Calibri (Body)"/>
              </a:rPr>
              <a:t>ci.yml</a:t>
            </a:r>
            <a:r>
              <a:rPr lang="en-IN" sz="1300" dirty="0">
                <a:latin typeface="Calibri (Body)"/>
              </a:rPr>
              <a:t> (automated tests/builds on every push)</a:t>
            </a:r>
          </a:p>
          <a:p>
            <a:pPr lvl="0"/>
            <a:r>
              <a:rPr lang="en-IN" sz="1300" dirty="0">
                <a:latin typeface="Calibri (Body)"/>
              </a:rPr>
              <a:t>Test suite: backend/tests/ (test_auth.py, test_services.py)</a:t>
            </a:r>
          </a:p>
          <a:p>
            <a:pPr lvl="0"/>
            <a:r>
              <a:rPr lang="en-IN" sz="1300" dirty="0">
                <a:latin typeface="Calibri (Body)"/>
              </a:rPr>
              <a:t>Deployment configs: docker-</a:t>
            </a:r>
            <a:r>
              <a:rPr lang="en-IN" sz="1300" dirty="0" err="1">
                <a:latin typeface="Calibri (Body)"/>
              </a:rPr>
              <a:t>compose.yml</a:t>
            </a:r>
            <a:r>
              <a:rPr lang="en-IN" sz="1300" dirty="0">
                <a:latin typeface="Calibri (Body)"/>
              </a:rPr>
              <a:t>, one-click launch scripts for Windows/macOS/Linux</a:t>
            </a:r>
          </a:p>
          <a:p>
            <a:pPr lvl="0"/>
            <a:r>
              <a:rPr lang="en-IN" sz="1300" dirty="0">
                <a:latin typeface="Calibri (Body)"/>
              </a:rPr>
              <a:t>53 commits, MIT licensed, actively maintained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13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BA801-C45C-301F-389D-30924D324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5" y="838337"/>
            <a:ext cx="8171111" cy="436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76213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300" b="1" dirty="0"/>
              <a:t>References — IEEE Format</a:t>
            </a:r>
          </a:p>
          <a:p>
            <a:r>
              <a:rPr lang="en-IN" sz="1300" dirty="0"/>
              <a:t>[1] </a:t>
            </a:r>
            <a:r>
              <a:rPr lang="en-IN" sz="1300" dirty="0" err="1"/>
              <a:t>FastAPI</a:t>
            </a:r>
            <a:r>
              <a:rPr lang="en-IN" sz="1300" dirty="0"/>
              <a:t>, "</a:t>
            </a:r>
            <a:r>
              <a:rPr lang="en-IN" sz="1300" dirty="0" err="1"/>
              <a:t>FastAPI</a:t>
            </a:r>
            <a:r>
              <a:rPr lang="en-IN" sz="1300" dirty="0"/>
              <a:t> Documentation," 2026. [Online]. Available: </a:t>
            </a:r>
            <a:r>
              <a:rPr lang="en-IN" sz="1300" dirty="0">
                <a:hlinkClick r:id="rId3"/>
              </a:rPr>
              <a:t>https://fastapi.tiangolo.com</a:t>
            </a:r>
            <a:endParaRPr lang="en-IN" sz="1300" dirty="0"/>
          </a:p>
          <a:p>
            <a:r>
              <a:rPr lang="en-IN" sz="1300" dirty="0"/>
              <a:t>[2] Meta Platforms, Inc., "React Documentation," 2026. [Online]. Available: </a:t>
            </a:r>
            <a:r>
              <a:rPr lang="en-IN" sz="1300" dirty="0">
                <a:hlinkClick r:id="rId4"/>
              </a:rPr>
              <a:t>https://react.dev</a:t>
            </a:r>
            <a:endParaRPr lang="en-IN" sz="1300" dirty="0"/>
          </a:p>
          <a:p>
            <a:r>
              <a:rPr lang="en-IN" sz="1300" dirty="0"/>
              <a:t>[3] Google LLC, "</a:t>
            </a:r>
            <a:r>
              <a:rPr lang="en-IN" sz="1300" dirty="0" err="1"/>
              <a:t>VirusTotal</a:t>
            </a:r>
            <a:r>
              <a:rPr lang="en-IN" sz="1300" dirty="0"/>
              <a:t> API Documentation," 2026. [Online]. Available: </a:t>
            </a:r>
            <a:r>
              <a:rPr lang="en-IN" sz="1300" dirty="0">
                <a:hlinkClick r:id="rId5"/>
              </a:rPr>
              <a:t>https://developers.virustotal.com</a:t>
            </a:r>
            <a:endParaRPr lang="en-IN" sz="1300" dirty="0"/>
          </a:p>
          <a:p>
            <a:r>
              <a:rPr lang="en-IN" sz="1300" dirty="0"/>
              <a:t>[4] Shodan, "Shodan API Documentation," 2026. [Online]. Available: </a:t>
            </a:r>
            <a:r>
              <a:rPr lang="en-IN" sz="1300" dirty="0">
                <a:hlinkClick r:id="rId6"/>
              </a:rPr>
              <a:t>https://developer.shodan.io</a:t>
            </a:r>
            <a:endParaRPr lang="en-IN" sz="1300" dirty="0"/>
          </a:p>
          <a:p>
            <a:r>
              <a:rPr lang="en-IN" sz="1300" dirty="0"/>
              <a:t>[5] </a:t>
            </a:r>
            <a:r>
              <a:rPr lang="en-IN" sz="1300" dirty="0" err="1"/>
              <a:t>OpenSky</a:t>
            </a:r>
            <a:r>
              <a:rPr lang="en-IN" sz="1300" dirty="0"/>
              <a:t> Network, "</a:t>
            </a:r>
            <a:r>
              <a:rPr lang="en-IN" sz="1300" dirty="0" err="1"/>
              <a:t>OpenSky</a:t>
            </a:r>
            <a:r>
              <a:rPr lang="en-IN" sz="1300" dirty="0"/>
              <a:t> Network API," 2026. [Online]. Available: </a:t>
            </a:r>
            <a:r>
              <a:rPr lang="en-IN" sz="1300" dirty="0">
                <a:hlinkClick r:id="rId7"/>
              </a:rPr>
              <a:t>https://openskynetwork.github.io/opensky-api</a:t>
            </a:r>
            <a:endParaRPr lang="en-IN" sz="1300" dirty="0"/>
          </a:p>
          <a:p>
            <a:r>
              <a:rPr lang="en-IN" sz="1300" dirty="0"/>
              <a:t>[6] Ministry of Electronics and Information Technology, Government of India, </a:t>
            </a:r>
            <a:r>
              <a:rPr lang="en-IN" sz="1300" i="1" dirty="0"/>
              <a:t>Digital Personal Data Protection Act, 2023</a:t>
            </a:r>
            <a:r>
              <a:rPr lang="en-IN" sz="1300" dirty="0"/>
              <a:t>. New Delhi, India: </a:t>
            </a:r>
            <a:r>
              <a:rPr lang="en-IN" sz="1300" dirty="0" err="1"/>
              <a:t>MeitY</a:t>
            </a:r>
            <a:r>
              <a:rPr lang="en-IN" sz="1300" dirty="0"/>
              <a:t>, 2023.</a:t>
            </a:r>
          </a:p>
          <a:p>
            <a:r>
              <a:rPr lang="en-IN" sz="1300" dirty="0"/>
              <a:t>[7] </a:t>
            </a:r>
            <a:r>
              <a:rPr lang="en-IN" sz="1300" dirty="0" err="1"/>
              <a:t>Groq</a:t>
            </a:r>
            <a:r>
              <a:rPr lang="en-IN" sz="1300" dirty="0"/>
              <a:t>, Inc., "</a:t>
            </a:r>
            <a:r>
              <a:rPr lang="en-IN" sz="1300" dirty="0" err="1"/>
              <a:t>LLaMA</a:t>
            </a:r>
            <a:r>
              <a:rPr lang="en-IN" sz="1300" dirty="0"/>
              <a:t> 3.3 70B Model Card," 2026. [Online]. Available: </a:t>
            </a:r>
            <a:r>
              <a:rPr lang="en-IN" sz="1300" dirty="0">
                <a:hlinkClick r:id="rId8"/>
              </a:rPr>
              <a:t>https://groq.com</a:t>
            </a:r>
            <a:endParaRPr lang="en-IN" sz="1300" dirty="0"/>
          </a:p>
          <a:p>
            <a:r>
              <a:rPr lang="en-IN" sz="1300" dirty="0"/>
              <a:t>[8] M. M. Yamin, M. Ullah, H. Ullah, B. Katt, M. Hijji, and K. Muhammad, "Mapping Tools for Open Source Intelligence with Cyber Kill Chain for Adversarial Aware Security," </a:t>
            </a:r>
            <a:r>
              <a:rPr lang="en-IN" sz="1300" i="1" dirty="0"/>
              <a:t>Mathematics</a:t>
            </a:r>
            <a:r>
              <a:rPr lang="en-IN" sz="1300" dirty="0"/>
              <a:t>, vol. 10, no. 12, p. 2054, 2022.</a:t>
            </a:r>
          </a:p>
          <a:p>
            <a:r>
              <a:rPr lang="en-IN" sz="1300" dirty="0"/>
              <a:t>[9] I. Böhm and S. </a:t>
            </a:r>
            <a:r>
              <a:rPr lang="en-IN" sz="1300" dirty="0" err="1"/>
              <a:t>Lolagar</a:t>
            </a:r>
            <a:r>
              <a:rPr lang="en-IN" sz="1300" dirty="0"/>
              <a:t>, "Open Source Intelligence: Introduction, Legal, and Ethical Considerations," 2021.</a:t>
            </a:r>
          </a:p>
          <a:p>
            <a:r>
              <a:rPr lang="en-IN" sz="1300" dirty="0"/>
              <a:t>[10] Y. Al </a:t>
            </a:r>
            <a:r>
              <a:rPr lang="en-IN" sz="1300" dirty="0" err="1"/>
              <a:t>Mahmeed</a:t>
            </a:r>
            <a:r>
              <a:rPr lang="en-IN" sz="1300" dirty="0"/>
              <a:t>, W. </a:t>
            </a:r>
            <a:r>
              <a:rPr lang="en-IN" sz="1300" dirty="0" err="1"/>
              <a:t>Elmedany</a:t>
            </a:r>
            <a:r>
              <a:rPr lang="en-IN" sz="1300" dirty="0"/>
              <a:t>, and M. S. Sharif, "Eagle-Eye: Open-Source Intelligence Tool for IoT Devices Detection," in </a:t>
            </a:r>
            <a:r>
              <a:rPr lang="en-IN" sz="1300" i="1" dirty="0"/>
              <a:t>Proc. 2022 Int. Conf. on Innovation and Intelligence for Informatics, Computing, and Technologies (3ICT)</a:t>
            </a:r>
            <a:r>
              <a:rPr lang="en-IN" sz="1300" dirty="0"/>
              <a:t>, IEEE, 2022, pp. 526–530.</a:t>
            </a:r>
          </a:p>
          <a:p>
            <a:r>
              <a:rPr lang="en-IN" sz="1300" dirty="0"/>
              <a:t>[11] J. Niu, M. Stillman, and A. Kruspe, "OSINT or BULLSHINT? Exploring Open-Source Intelligence Tweets about the Russo-Ukrainian War," </a:t>
            </a:r>
            <a:r>
              <a:rPr lang="en-IN" sz="1300" dirty="0" err="1"/>
              <a:t>arXiv</a:t>
            </a:r>
            <a:r>
              <a:rPr lang="en-IN" sz="1300" dirty="0"/>
              <a:t> preprint arXiv:2508.03599, 2023.</a:t>
            </a:r>
          </a:p>
          <a:p>
            <a:r>
              <a:rPr lang="en-IN" sz="1300" dirty="0"/>
              <a:t>[12] </a:t>
            </a:r>
            <a:r>
              <a:rPr lang="en-IN" sz="1300" dirty="0" err="1"/>
              <a:t>AbhyasKathuria</a:t>
            </a:r>
            <a:r>
              <a:rPr lang="en-IN" sz="1300" dirty="0"/>
              <a:t>, "Gods-Eye-OMNIVISION," GitHub repository, 2026. [Online]. Available: </a:t>
            </a:r>
            <a:r>
              <a:rPr lang="en-IN" sz="1300" dirty="0">
                <a:hlinkClick r:id="rId9"/>
              </a:rPr>
              <a:t>https://github.com/AbhyasKathuria/Gods-Eye-OMNIVISION</a:t>
            </a:r>
            <a:endParaRPr lang="en-IN" sz="1300" dirty="0"/>
          </a:p>
        </p:txBody>
      </p:sp>
    </p:spTree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89D133F5-6953-56ED-20EC-DE19892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ABB00905-ADCB-3B65-754F-864738053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841DC8-66F0-4989-A5B8-2BD525AE6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76213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400" b="1" dirty="0"/>
              <a:t>References — APA Format</a:t>
            </a:r>
          </a:p>
          <a:p>
            <a:r>
              <a:rPr lang="en-IN" sz="1400" dirty="0" err="1"/>
              <a:t>FastAPI</a:t>
            </a:r>
            <a:r>
              <a:rPr lang="en-IN" sz="1400" dirty="0"/>
              <a:t>. (2026). </a:t>
            </a:r>
            <a:r>
              <a:rPr lang="en-IN" sz="1400" i="1" dirty="0" err="1"/>
              <a:t>FastAPI</a:t>
            </a:r>
            <a:r>
              <a:rPr lang="en-IN" sz="1400" i="1" dirty="0"/>
              <a:t> documentation</a:t>
            </a:r>
            <a:r>
              <a:rPr lang="en-IN" sz="1400" dirty="0"/>
              <a:t>. </a:t>
            </a:r>
            <a:r>
              <a:rPr lang="en-IN" sz="1400" dirty="0">
                <a:hlinkClick r:id="rId3"/>
              </a:rPr>
              <a:t>https://fastapi.tiangolo.com</a:t>
            </a:r>
            <a:endParaRPr lang="en-IN" sz="1400" dirty="0"/>
          </a:p>
          <a:p>
            <a:r>
              <a:rPr lang="en-IN" sz="1400" dirty="0"/>
              <a:t>Meta Platforms, Inc. (2026). </a:t>
            </a:r>
            <a:r>
              <a:rPr lang="en-IN" sz="1400" i="1" dirty="0"/>
              <a:t>React documentation</a:t>
            </a:r>
            <a:r>
              <a:rPr lang="en-IN" sz="1400" dirty="0"/>
              <a:t>. </a:t>
            </a:r>
            <a:r>
              <a:rPr lang="en-IN" sz="1400" dirty="0">
                <a:hlinkClick r:id="rId4"/>
              </a:rPr>
              <a:t>https://react.dev</a:t>
            </a:r>
            <a:endParaRPr lang="en-IN" sz="1400" dirty="0"/>
          </a:p>
          <a:p>
            <a:r>
              <a:rPr lang="en-IN" sz="1400" dirty="0"/>
              <a:t>Google LLC. (2026). </a:t>
            </a:r>
            <a:r>
              <a:rPr lang="en-IN" sz="1400" i="1" dirty="0" err="1"/>
              <a:t>VirusTotal</a:t>
            </a:r>
            <a:r>
              <a:rPr lang="en-IN" sz="1400" i="1" dirty="0"/>
              <a:t> API documentation</a:t>
            </a:r>
            <a:r>
              <a:rPr lang="en-IN" sz="1400" dirty="0"/>
              <a:t>. </a:t>
            </a:r>
            <a:r>
              <a:rPr lang="en-IN" sz="1400" dirty="0">
                <a:hlinkClick r:id="rId5"/>
              </a:rPr>
              <a:t>https://developers.virustotal.com</a:t>
            </a:r>
            <a:endParaRPr lang="en-IN" sz="1400" dirty="0"/>
          </a:p>
          <a:p>
            <a:r>
              <a:rPr lang="en-IN" sz="1400" dirty="0"/>
              <a:t>Shodan. (2026). </a:t>
            </a:r>
            <a:r>
              <a:rPr lang="en-IN" sz="1400" i="1" dirty="0"/>
              <a:t>Shodan API documentation</a:t>
            </a:r>
            <a:r>
              <a:rPr lang="en-IN" sz="1400" dirty="0"/>
              <a:t>. </a:t>
            </a:r>
            <a:r>
              <a:rPr lang="en-IN" sz="1400" dirty="0">
                <a:hlinkClick r:id="rId6"/>
              </a:rPr>
              <a:t>https://developer.shodan.io</a:t>
            </a:r>
            <a:endParaRPr lang="en-IN" sz="1400" dirty="0"/>
          </a:p>
          <a:p>
            <a:r>
              <a:rPr lang="en-IN" sz="1400" dirty="0" err="1"/>
              <a:t>OpenSky</a:t>
            </a:r>
            <a:r>
              <a:rPr lang="en-IN" sz="1400" dirty="0"/>
              <a:t> Network. (2026). </a:t>
            </a:r>
            <a:r>
              <a:rPr lang="en-IN" sz="1400" i="1" dirty="0" err="1"/>
              <a:t>OpenSky</a:t>
            </a:r>
            <a:r>
              <a:rPr lang="en-IN" sz="1400" i="1" dirty="0"/>
              <a:t> network API</a:t>
            </a:r>
            <a:r>
              <a:rPr lang="en-IN" sz="1400" dirty="0"/>
              <a:t>. </a:t>
            </a:r>
            <a:r>
              <a:rPr lang="en-IN" sz="1400" dirty="0">
                <a:hlinkClick r:id="rId7"/>
              </a:rPr>
              <a:t>https://openskynetwork.github.io/opensky-api</a:t>
            </a:r>
            <a:endParaRPr lang="en-IN" sz="1400" dirty="0"/>
          </a:p>
          <a:p>
            <a:r>
              <a:rPr lang="en-IN" sz="1400" dirty="0"/>
              <a:t>Ministry of Electronics and Information Technology, Government of India. (2023). </a:t>
            </a:r>
            <a:r>
              <a:rPr lang="en-IN" sz="1400" i="1" dirty="0"/>
              <a:t>Digital Personal Data Protection Act, 2023</a:t>
            </a:r>
            <a:r>
              <a:rPr lang="en-IN" sz="1400" dirty="0"/>
              <a:t>. </a:t>
            </a:r>
            <a:r>
              <a:rPr lang="en-IN" sz="1400" dirty="0" err="1"/>
              <a:t>MeitY</a:t>
            </a:r>
            <a:r>
              <a:rPr lang="en-IN" sz="1400" dirty="0"/>
              <a:t>.</a:t>
            </a:r>
          </a:p>
          <a:p>
            <a:r>
              <a:rPr lang="en-IN" sz="1400" dirty="0" err="1"/>
              <a:t>Groq</a:t>
            </a:r>
            <a:r>
              <a:rPr lang="en-IN" sz="1400" dirty="0"/>
              <a:t>, Inc. (2026). </a:t>
            </a:r>
            <a:r>
              <a:rPr lang="en-IN" sz="1400" i="1" dirty="0" err="1"/>
              <a:t>LLaMA</a:t>
            </a:r>
            <a:r>
              <a:rPr lang="en-IN" sz="1400" i="1" dirty="0"/>
              <a:t> 3.3 70B model card</a:t>
            </a:r>
            <a:r>
              <a:rPr lang="en-IN" sz="1400" dirty="0"/>
              <a:t>. </a:t>
            </a:r>
            <a:r>
              <a:rPr lang="en-IN" sz="1400" dirty="0">
                <a:hlinkClick r:id="rId8"/>
              </a:rPr>
              <a:t>https://groq.com</a:t>
            </a:r>
            <a:endParaRPr lang="en-IN" sz="1400" dirty="0"/>
          </a:p>
          <a:p>
            <a:r>
              <a:rPr lang="en-IN" sz="1400" dirty="0"/>
              <a:t>Yamin, M. M., Ullah, M., Ullah, H., Katt, B., Hijji, M., &amp; Muhammad, K. (2022). Mapping tools for open source intelligence with cyber kill chain for adversarial aware security. </a:t>
            </a:r>
            <a:r>
              <a:rPr lang="en-IN" sz="1400" i="1" dirty="0"/>
              <a:t>Mathematics, 10</a:t>
            </a:r>
            <a:r>
              <a:rPr lang="en-IN" sz="1400" dirty="0"/>
              <a:t>(12), 2054. </a:t>
            </a:r>
            <a:r>
              <a:rPr lang="en-IN" sz="1400" dirty="0">
                <a:hlinkClick r:id="rId9"/>
              </a:rPr>
              <a:t>https://doi.org/10.3390/math10122054</a:t>
            </a:r>
            <a:endParaRPr lang="en-IN" sz="1400" dirty="0"/>
          </a:p>
          <a:p>
            <a:r>
              <a:rPr lang="en-IN" sz="1400" dirty="0"/>
              <a:t>Böhm, I., &amp; </a:t>
            </a:r>
            <a:r>
              <a:rPr lang="en-IN" sz="1400" dirty="0" err="1"/>
              <a:t>Lolagar</a:t>
            </a:r>
            <a:r>
              <a:rPr lang="en-IN" sz="1400" dirty="0"/>
              <a:t>, S. (2021). Open source intelligence: Introduction, legal, and ethical considerations.</a:t>
            </a:r>
          </a:p>
          <a:p>
            <a:r>
              <a:rPr lang="en-IN" sz="1400" dirty="0"/>
              <a:t>Al </a:t>
            </a:r>
            <a:r>
              <a:rPr lang="en-IN" sz="1400" dirty="0" err="1"/>
              <a:t>Mahmeed</a:t>
            </a:r>
            <a:r>
              <a:rPr lang="en-IN" sz="1400" dirty="0"/>
              <a:t>, Y., </a:t>
            </a:r>
            <a:r>
              <a:rPr lang="en-IN" sz="1400" dirty="0" err="1"/>
              <a:t>Elmedany</a:t>
            </a:r>
            <a:r>
              <a:rPr lang="en-IN" sz="1400" dirty="0"/>
              <a:t>, W., &amp; Sharif, M. S. (2022). Eagle-Eye: Open-source intelligence tool for IoT devices detection. In </a:t>
            </a:r>
            <a:r>
              <a:rPr lang="en-IN" sz="1400" i="1" dirty="0"/>
              <a:t>Proceedings of the 2022 International Conference on Innovation and Intelligence for Informatics, Computing, and Technologies (3ICT)</a:t>
            </a:r>
            <a:r>
              <a:rPr lang="en-IN" sz="1400" dirty="0"/>
              <a:t> (pp. 526–530). IEEE.</a:t>
            </a:r>
          </a:p>
          <a:p>
            <a:r>
              <a:rPr lang="en-IN" sz="1400" dirty="0"/>
              <a:t>Niu, J., Stillman, M., &amp; Kruspe, A. (2023). </a:t>
            </a:r>
            <a:r>
              <a:rPr lang="en-IN" sz="1400" i="1" dirty="0"/>
              <a:t>OSINT or BULLSHINT? Exploring open-source intelligence tweets about the Russo-Ukrainian War</a:t>
            </a:r>
            <a:r>
              <a:rPr lang="en-IN" sz="1400" dirty="0"/>
              <a:t> (arXiv:2508.03599). </a:t>
            </a:r>
            <a:r>
              <a:rPr lang="en-IN" sz="1400" dirty="0" err="1"/>
              <a:t>arXiv</a:t>
            </a:r>
            <a:r>
              <a:rPr lang="en-IN" sz="1400" dirty="0"/>
              <a:t>. </a:t>
            </a:r>
            <a:r>
              <a:rPr lang="en-IN" sz="1400" dirty="0">
                <a:hlinkClick r:id="rId10"/>
              </a:rPr>
              <a:t>https://arxiv.org/abs/2508.03599</a:t>
            </a:r>
            <a:endParaRPr lang="en-IN" sz="1400" dirty="0"/>
          </a:p>
          <a:p>
            <a:r>
              <a:rPr lang="en-IN" sz="1400" dirty="0"/>
              <a:t>Kathuria, A. (2026). </a:t>
            </a:r>
            <a:r>
              <a:rPr lang="en-IN" sz="1400" i="1" dirty="0"/>
              <a:t>Gods-Eye-OMNIVISION</a:t>
            </a:r>
            <a:r>
              <a:rPr lang="en-IN" sz="1400" dirty="0"/>
              <a:t> [Source code]. GitHub. </a:t>
            </a:r>
            <a:r>
              <a:rPr lang="en-IN" sz="1400" dirty="0">
                <a:hlinkClick r:id="rId11"/>
              </a:rPr>
              <a:t>https://github.com/AbhyasKathuria/Gods-Eye-OMNIVISION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40076630"/>
      </p:ext>
    </p:extLst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7841</TotalTime>
  <Words>2647</Words>
  <Application>Microsoft Office PowerPoint</Application>
  <PresentationFormat>Widescreen</PresentationFormat>
  <Paragraphs>161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(Body)</vt:lpstr>
      <vt:lpstr>Calibri Light</vt:lpstr>
      <vt:lpstr>Cambria</vt:lpstr>
      <vt:lpstr>Times New Roman</vt:lpstr>
      <vt:lpstr>Verdana</vt:lpstr>
      <vt:lpstr>Wingdings</vt:lpstr>
      <vt:lpstr>Office Theme</vt:lpstr>
      <vt:lpstr>BCA Mini Project (Review I)  GOD'S EYE (OMNIVISION) </vt:lpstr>
      <vt:lpstr>Content</vt:lpstr>
      <vt:lpstr>Problem Statement</vt:lpstr>
      <vt:lpstr>PowerPoint Presentation</vt:lpstr>
      <vt:lpstr>Module Design</vt:lpstr>
      <vt:lpstr>Module Design</vt:lpstr>
      <vt:lpstr>Module Design</vt:lpstr>
      <vt:lpstr>Tools And Technologies To Be Used</vt:lpstr>
      <vt:lpstr>Tools And Technologies To Be Used</vt:lpstr>
      <vt:lpstr>Tools And Technologies To Be Used</vt:lpstr>
      <vt:lpstr>Github Link</vt:lpstr>
      <vt:lpstr>Timeline of the Project (Gantt Chart)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ABHYAS KATHURIA</cp:lastModifiedBy>
  <cp:revision>920</cp:revision>
  <cp:lastPrinted>2018-07-24T06:37:20Z</cp:lastPrinted>
  <dcterms:created xsi:type="dcterms:W3CDTF">2018-06-07T04:06:17Z</dcterms:created>
  <dcterms:modified xsi:type="dcterms:W3CDTF">2026-09-02T05:35:57Z</dcterms:modified>
</cp:coreProperties>
</file>